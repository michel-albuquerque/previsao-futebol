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09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73" r:id="rId7"/>
    <p:sldId id="272" r:id="rId8"/>
    <p:sldId id="261" r:id="rId9"/>
    <p:sldId id="280" r:id="rId10"/>
    <p:sldId id="271" r:id="rId11"/>
    <p:sldId id="262" r:id="rId12"/>
    <p:sldId id="274" r:id="rId13"/>
    <p:sldId id="275" r:id="rId14"/>
    <p:sldId id="276" r:id="rId15"/>
    <p:sldId id="277" r:id="rId16"/>
    <p:sldId id="278" r:id="rId17"/>
    <p:sldId id="281" r:id="rId18"/>
    <p:sldId id="282" r:id="rId19"/>
    <p:sldId id="285" r:id="rId20"/>
    <p:sldId id="284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83" r:id="rId32"/>
    <p:sldId id="296" r:id="rId33"/>
    <p:sldId id="297" r:id="rId34"/>
    <p:sldId id="270" r:id="rId35"/>
  </p:sldIdLst>
  <p:sldSz cx="9144000" cy="5143500" type="screen16x9"/>
  <p:notesSz cx="6858000" cy="9144000"/>
  <p:embeddedFontLst>
    <p:embeddedFont>
      <p:font typeface="Lato" panose="020F0502020204030203" pitchFamily="34" charset="0"/>
      <p:regular r:id="rId37"/>
      <p:bold r:id="rId38"/>
      <p:italic r:id="rId39"/>
      <p:boldItalic r:id="rId40"/>
    </p:embeddedFont>
    <p:embeddedFont>
      <p:font typeface="Tw Cen MT" panose="020B0602020104020603" pitchFamily="34" charset="0"/>
      <p:regular r:id="rId41"/>
      <p:bold r:id="rId42"/>
      <p:italic r:id="rId43"/>
      <p:boldItalic r:id="rId44"/>
    </p:embeddedFont>
    <p:embeddedFont>
      <p:font typeface="Tw Cen MT Condensed" panose="020B0606020104020203" pitchFamily="34" charset="0"/>
      <p:regular r:id="rId45"/>
      <p:bold r:id="rId46"/>
    </p:embeddedFont>
    <p:embeddedFont>
      <p:font typeface="Wingdings 3" panose="05040102010807070707" pitchFamily="18" charset="2"/>
      <p:regular r:id="rId4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08F8443-3DBB-15F2-820B-27DB1B81CB83}" name="michel albuquerque" initials="ma" userId="7d9efc7a7ecc4aa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D86D9E2-73D8-463D-9778-699E37C7EC00}">
  <a:tblStyle styleId="{DD86D9E2-73D8-463D-9778-699E37C7EC0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4E1E41-8936-4509-9A1F-5C83C82D70F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E48A015-F9A9-44CE-8E98-662D2104F11F}">
      <dgm:prSet/>
      <dgm:spPr/>
      <dgm:t>
        <a:bodyPr/>
        <a:lstStyle/>
        <a:p>
          <a:r>
            <a:rPr lang="pt-BR" dirty="0"/>
            <a:t>Caso 1:    um campeonato x dois campeonatos</a:t>
          </a:r>
          <a:endParaRPr lang="en-US" dirty="0"/>
        </a:p>
      </dgm:t>
    </dgm:pt>
    <dgm:pt modelId="{E4A3A05A-724B-4787-8D58-1F52990E0159}" type="parTrans" cxnId="{A8B53295-6133-4911-90B0-E7C0899F1139}">
      <dgm:prSet/>
      <dgm:spPr/>
      <dgm:t>
        <a:bodyPr/>
        <a:lstStyle/>
        <a:p>
          <a:endParaRPr lang="en-US"/>
        </a:p>
      </dgm:t>
    </dgm:pt>
    <dgm:pt modelId="{E157A9B4-0487-43F1-A067-C27D659D36A4}" type="sibTrans" cxnId="{A8B53295-6133-4911-90B0-E7C0899F1139}">
      <dgm:prSet/>
      <dgm:spPr/>
      <dgm:t>
        <a:bodyPr/>
        <a:lstStyle/>
        <a:p>
          <a:endParaRPr lang="en-US"/>
        </a:p>
      </dgm:t>
    </dgm:pt>
    <dgm:pt modelId="{99E9147C-7EE1-4F3D-9F6A-606452CFC670}">
      <dgm:prSet/>
      <dgm:spPr/>
      <dgm:t>
        <a:bodyPr/>
        <a:lstStyle/>
        <a:p>
          <a:r>
            <a:rPr lang="pt-BR" dirty="0"/>
            <a:t>Caso 2:    três classes x duas classes</a:t>
          </a:r>
          <a:endParaRPr lang="en-US" dirty="0"/>
        </a:p>
      </dgm:t>
    </dgm:pt>
    <dgm:pt modelId="{96C89C73-BF5F-41F6-84A3-67B125160E94}" type="parTrans" cxnId="{82CFC228-6A58-49B1-87F1-0009B7828212}">
      <dgm:prSet/>
      <dgm:spPr/>
      <dgm:t>
        <a:bodyPr/>
        <a:lstStyle/>
        <a:p>
          <a:endParaRPr lang="en-US"/>
        </a:p>
      </dgm:t>
    </dgm:pt>
    <dgm:pt modelId="{929451BE-50AC-4081-83DD-D9C179A1BEFC}" type="sibTrans" cxnId="{82CFC228-6A58-49B1-87F1-0009B7828212}">
      <dgm:prSet/>
      <dgm:spPr/>
      <dgm:t>
        <a:bodyPr/>
        <a:lstStyle/>
        <a:p>
          <a:endParaRPr lang="en-US"/>
        </a:p>
      </dgm:t>
    </dgm:pt>
    <dgm:pt modelId="{020FB4AD-BF51-4872-889B-86E0016B906D}">
      <dgm:prSet/>
      <dgm:spPr/>
      <dgm:t>
        <a:bodyPr/>
        <a:lstStyle/>
        <a:p>
          <a:pPr algn="ctr"/>
          <a:r>
            <a:rPr lang="pt-BR" dirty="0"/>
            <a:t>Caso 3:    comparação entre as médias das partidas                       anteriores</a:t>
          </a:r>
          <a:endParaRPr lang="en-US" dirty="0"/>
        </a:p>
      </dgm:t>
    </dgm:pt>
    <dgm:pt modelId="{045E8E84-CA36-47FD-85EC-BC5431FFA378}" type="parTrans" cxnId="{0D6A4AA7-1B08-40AB-B622-DD1BF94E70F9}">
      <dgm:prSet/>
      <dgm:spPr/>
      <dgm:t>
        <a:bodyPr/>
        <a:lstStyle/>
        <a:p>
          <a:endParaRPr lang="en-US"/>
        </a:p>
      </dgm:t>
    </dgm:pt>
    <dgm:pt modelId="{D0B712C2-A7C9-46D6-A897-A8B936BE20F3}" type="sibTrans" cxnId="{0D6A4AA7-1B08-40AB-B622-DD1BF94E70F9}">
      <dgm:prSet/>
      <dgm:spPr/>
      <dgm:t>
        <a:bodyPr/>
        <a:lstStyle/>
        <a:p>
          <a:endParaRPr lang="en-US"/>
        </a:p>
      </dgm:t>
    </dgm:pt>
    <dgm:pt modelId="{09BE336D-7ABF-4969-9388-AC59E1F9367D}" type="pres">
      <dgm:prSet presAssocID="{FF4E1E41-8936-4509-9A1F-5C83C82D70FD}" presName="linear" presStyleCnt="0">
        <dgm:presLayoutVars>
          <dgm:animLvl val="lvl"/>
          <dgm:resizeHandles val="exact"/>
        </dgm:presLayoutVars>
      </dgm:prSet>
      <dgm:spPr/>
    </dgm:pt>
    <dgm:pt modelId="{09F20C2F-9A4B-4C28-AF92-981EBD93E383}" type="pres">
      <dgm:prSet presAssocID="{BE48A015-F9A9-44CE-8E98-662D2104F11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BEAE1E1-ED65-478C-BBAD-BCC477AD1C83}" type="pres">
      <dgm:prSet presAssocID="{E157A9B4-0487-43F1-A067-C27D659D36A4}" presName="spacer" presStyleCnt="0"/>
      <dgm:spPr/>
    </dgm:pt>
    <dgm:pt modelId="{BA3EAEA4-1843-42C7-99A1-50100EF97919}" type="pres">
      <dgm:prSet presAssocID="{99E9147C-7EE1-4F3D-9F6A-606452CFC67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F536226-968B-491D-9450-93A00C75DE5F}" type="pres">
      <dgm:prSet presAssocID="{929451BE-50AC-4081-83DD-D9C179A1BEFC}" presName="spacer" presStyleCnt="0"/>
      <dgm:spPr/>
    </dgm:pt>
    <dgm:pt modelId="{F560C645-C4A9-48AE-9B17-D90AA4B61AA4}" type="pres">
      <dgm:prSet presAssocID="{020FB4AD-BF51-4872-889B-86E0016B906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242CA03-E446-4768-8100-28AFD28F0DCF}" type="presOf" srcId="{99E9147C-7EE1-4F3D-9F6A-606452CFC670}" destId="{BA3EAEA4-1843-42C7-99A1-50100EF97919}" srcOrd="0" destOrd="0" presId="urn:microsoft.com/office/officeart/2005/8/layout/vList2"/>
    <dgm:cxn modelId="{82CFC228-6A58-49B1-87F1-0009B7828212}" srcId="{FF4E1E41-8936-4509-9A1F-5C83C82D70FD}" destId="{99E9147C-7EE1-4F3D-9F6A-606452CFC670}" srcOrd="1" destOrd="0" parTransId="{96C89C73-BF5F-41F6-84A3-67B125160E94}" sibTransId="{929451BE-50AC-4081-83DD-D9C179A1BEFC}"/>
    <dgm:cxn modelId="{CF290B45-90BF-4D07-BEEA-B6D9E3020934}" type="presOf" srcId="{BE48A015-F9A9-44CE-8E98-662D2104F11F}" destId="{09F20C2F-9A4B-4C28-AF92-981EBD93E383}" srcOrd="0" destOrd="0" presId="urn:microsoft.com/office/officeart/2005/8/layout/vList2"/>
    <dgm:cxn modelId="{5DE4834A-0D33-4A22-8AE2-538991B3A3CB}" type="presOf" srcId="{020FB4AD-BF51-4872-889B-86E0016B906D}" destId="{F560C645-C4A9-48AE-9B17-D90AA4B61AA4}" srcOrd="0" destOrd="0" presId="urn:microsoft.com/office/officeart/2005/8/layout/vList2"/>
    <dgm:cxn modelId="{A8B53295-6133-4911-90B0-E7C0899F1139}" srcId="{FF4E1E41-8936-4509-9A1F-5C83C82D70FD}" destId="{BE48A015-F9A9-44CE-8E98-662D2104F11F}" srcOrd="0" destOrd="0" parTransId="{E4A3A05A-724B-4787-8D58-1F52990E0159}" sibTransId="{E157A9B4-0487-43F1-A067-C27D659D36A4}"/>
    <dgm:cxn modelId="{0D6A4AA7-1B08-40AB-B622-DD1BF94E70F9}" srcId="{FF4E1E41-8936-4509-9A1F-5C83C82D70FD}" destId="{020FB4AD-BF51-4872-889B-86E0016B906D}" srcOrd="2" destOrd="0" parTransId="{045E8E84-CA36-47FD-85EC-BC5431FFA378}" sibTransId="{D0B712C2-A7C9-46D6-A897-A8B936BE20F3}"/>
    <dgm:cxn modelId="{14EAC6FF-8CD0-403D-98D1-4BC8C0D9C13A}" type="presOf" srcId="{FF4E1E41-8936-4509-9A1F-5C83C82D70FD}" destId="{09BE336D-7ABF-4969-9388-AC59E1F9367D}" srcOrd="0" destOrd="0" presId="urn:microsoft.com/office/officeart/2005/8/layout/vList2"/>
    <dgm:cxn modelId="{2B1CEE6F-0069-4D23-A7A8-480BF653CCFD}" type="presParOf" srcId="{09BE336D-7ABF-4969-9388-AC59E1F9367D}" destId="{09F20C2F-9A4B-4C28-AF92-981EBD93E383}" srcOrd="0" destOrd="0" presId="urn:microsoft.com/office/officeart/2005/8/layout/vList2"/>
    <dgm:cxn modelId="{38D19B73-EEE2-4863-9206-8958B2298894}" type="presParOf" srcId="{09BE336D-7ABF-4969-9388-AC59E1F9367D}" destId="{DBEAE1E1-ED65-478C-BBAD-BCC477AD1C83}" srcOrd="1" destOrd="0" presId="urn:microsoft.com/office/officeart/2005/8/layout/vList2"/>
    <dgm:cxn modelId="{8E7F43B5-84EE-441B-81AE-09F639EF61B3}" type="presParOf" srcId="{09BE336D-7ABF-4969-9388-AC59E1F9367D}" destId="{BA3EAEA4-1843-42C7-99A1-50100EF97919}" srcOrd="2" destOrd="0" presId="urn:microsoft.com/office/officeart/2005/8/layout/vList2"/>
    <dgm:cxn modelId="{9CEA5E08-1978-4C5E-A8E1-D0AD89E4E506}" type="presParOf" srcId="{09BE336D-7ABF-4969-9388-AC59E1F9367D}" destId="{2F536226-968B-491D-9450-93A00C75DE5F}" srcOrd="3" destOrd="0" presId="urn:microsoft.com/office/officeart/2005/8/layout/vList2"/>
    <dgm:cxn modelId="{4D2E710A-7964-4320-A0F4-6228A331CD9D}" type="presParOf" srcId="{09BE336D-7ABF-4969-9388-AC59E1F9367D}" destId="{F560C645-C4A9-48AE-9B17-D90AA4B61AA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B62238-7BCC-4709-8BD8-995B8CFA32A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57F5820-17FE-419C-8F2D-6A196E924650}">
      <dgm:prSet/>
      <dgm:spPr/>
      <dgm:t>
        <a:bodyPr/>
        <a:lstStyle/>
        <a:p>
          <a:r>
            <a:rPr lang="en-US"/>
            <a:t>Caso base e comparação com referências</a:t>
          </a:r>
        </a:p>
      </dgm:t>
    </dgm:pt>
    <dgm:pt modelId="{9CA25AF5-CE55-4D45-B318-BED11865A369}" type="parTrans" cxnId="{8E1622F6-4D40-405A-9252-71EEAA3AAC84}">
      <dgm:prSet/>
      <dgm:spPr/>
      <dgm:t>
        <a:bodyPr/>
        <a:lstStyle/>
        <a:p>
          <a:endParaRPr lang="en-US"/>
        </a:p>
      </dgm:t>
    </dgm:pt>
    <dgm:pt modelId="{BFF0288C-85C9-416E-A79B-213788BF2F5F}" type="sibTrans" cxnId="{8E1622F6-4D40-405A-9252-71EEAA3AAC84}">
      <dgm:prSet/>
      <dgm:spPr/>
      <dgm:t>
        <a:bodyPr/>
        <a:lstStyle/>
        <a:p>
          <a:endParaRPr lang="en-US"/>
        </a:p>
      </dgm:t>
    </dgm:pt>
    <dgm:pt modelId="{804D2843-FA7A-411D-BC31-BF0A47E0CFBF}">
      <dgm:prSet/>
      <dgm:spPr/>
      <dgm:t>
        <a:bodyPr/>
        <a:lstStyle/>
        <a:p>
          <a:r>
            <a:rPr lang="en-US"/>
            <a:t>Características das melhores variáveis</a:t>
          </a:r>
        </a:p>
      </dgm:t>
    </dgm:pt>
    <dgm:pt modelId="{F75A3DD0-216C-46F6-A007-38A2645EF374}" type="parTrans" cxnId="{25C568E3-F49D-4273-8B90-7A2C760063C6}">
      <dgm:prSet/>
      <dgm:spPr/>
      <dgm:t>
        <a:bodyPr/>
        <a:lstStyle/>
        <a:p>
          <a:endParaRPr lang="en-US"/>
        </a:p>
      </dgm:t>
    </dgm:pt>
    <dgm:pt modelId="{75F19D3D-5AF9-4341-B83E-0263E6F3EDE1}" type="sibTrans" cxnId="{25C568E3-F49D-4273-8B90-7A2C760063C6}">
      <dgm:prSet/>
      <dgm:spPr/>
      <dgm:t>
        <a:bodyPr/>
        <a:lstStyle/>
        <a:p>
          <a:endParaRPr lang="en-US"/>
        </a:p>
      </dgm:t>
    </dgm:pt>
    <dgm:pt modelId="{8F3DEDEF-E13A-44B6-8881-ED8EE687D6BF}">
      <dgm:prSet/>
      <dgm:spPr/>
      <dgm:t>
        <a:bodyPr/>
        <a:lstStyle/>
        <a:p>
          <a:r>
            <a:rPr lang="en-US"/>
            <a:t>Avaliação da quantidade de:</a:t>
          </a:r>
        </a:p>
      </dgm:t>
    </dgm:pt>
    <dgm:pt modelId="{1FC064D2-5F24-4208-B443-C0D7BD484396}" type="parTrans" cxnId="{2599B8F6-B0B1-4C68-9613-7FD60CA3D3AD}">
      <dgm:prSet/>
      <dgm:spPr/>
      <dgm:t>
        <a:bodyPr/>
        <a:lstStyle/>
        <a:p>
          <a:endParaRPr lang="en-US"/>
        </a:p>
      </dgm:t>
    </dgm:pt>
    <dgm:pt modelId="{21F67D72-D5ED-485E-97C1-F82173F502FB}" type="sibTrans" cxnId="{2599B8F6-B0B1-4C68-9613-7FD60CA3D3AD}">
      <dgm:prSet/>
      <dgm:spPr/>
      <dgm:t>
        <a:bodyPr/>
        <a:lstStyle/>
        <a:p>
          <a:endParaRPr lang="en-US"/>
        </a:p>
      </dgm:t>
    </dgm:pt>
    <dgm:pt modelId="{A76ADC15-4147-4B39-9FD9-2EAC6324E50F}">
      <dgm:prSet/>
      <dgm:spPr/>
      <dgm:t>
        <a:bodyPr/>
        <a:lstStyle/>
        <a:p>
          <a:r>
            <a:rPr lang="en-US"/>
            <a:t>dados </a:t>
          </a:r>
        </a:p>
      </dgm:t>
    </dgm:pt>
    <dgm:pt modelId="{DCCDE626-F0EB-4941-8568-4314CB97BBB4}" type="parTrans" cxnId="{3E2BB8BA-436A-4A85-A553-C0E21AAA5D8C}">
      <dgm:prSet/>
      <dgm:spPr/>
      <dgm:t>
        <a:bodyPr/>
        <a:lstStyle/>
        <a:p>
          <a:endParaRPr lang="en-US"/>
        </a:p>
      </dgm:t>
    </dgm:pt>
    <dgm:pt modelId="{DC155957-C243-4102-A5C0-BB0622219DFB}" type="sibTrans" cxnId="{3E2BB8BA-436A-4A85-A553-C0E21AAA5D8C}">
      <dgm:prSet/>
      <dgm:spPr/>
      <dgm:t>
        <a:bodyPr/>
        <a:lstStyle/>
        <a:p>
          <a:endParaRPr lang="en-US"/>
        </a:p>
      </dgm:t>
    </dgm:pt>
    <dgm:pt modelId="{C624A863-F364-480C-BB70-00E446AD642E}">
      <dgm:prSet/>
      <dgm:spPr/>
      <dgm:t>
        <a:bodyPr/>
        <a:lstStyle/>
        <a:p>
          <a:r>
            <a:rPr lang="en-US"/>
            <a:t>classes</a:t>
          </a:r>
        </a:p>
      </dgm:t>
    </dgm:pt>
    <dgm:pt modelId="{9552F3D0-20CA-4360-A48D-C11D12357B31}" type="parTrans" cxnId="{84DAEDCF-308C-49D8-A7CA-64554BA4DE3A}">
      <dgm:prSet/>
      <dgm:spPr/>
      <dgm:t>
        <a:bodyPr/>
        <a:lstStyle/>
        <a:p>
          <a:endParaRPr lang="en-US"/>
        </a:p>
      </dgm:t>
    </dgm:pt>
    <dgm:pt modelId="{5F9BA0F7-456A-4379-B4A6-43EA60DF4426}" type="sibTrans" cxnId="{84DAEDCF-308C-49D8-A7CA-64554BA4DE3A}">
      <dgm:prSet/>
      <dgm:spPr/>
      <dgm:t>
        <a:bodyPr/>
        <a:lstStyle/>
        <a:p>
          <a:endParaRPr lang="en-US"/>
        </a:p>
      </dgm:t>
    </dgm:pt>
    <dgm:pt modelId="{4BFCE611-40DF-47FB-8B97-70E7D9366EFB}">
      <dgm:prSet/>
      <dgm:spPr/>
      <dgm:t>
        <a:bodyPr/>
        <a:lstStyle/>
        <a:p>
          <a:r>
            <a:rPr lang="en-US" dirty="0" err="1"/>
            <a:t>partidas</a:t>
          </a:r>
          <a:r>
            <a:rPr lang="en-US" dirty="0"/>
            <a:t> </a:t>
          </a:r>
          <a:r>
            <a:rPr lang="en-US" dirty="0" err="1"/>
            <a:t>anteriores</a:t>
          </a:r>
          <a:r>
            <a:rPr lang="en-US" dirty="0"/>
            <a:t> para o </a:t>
          </a:r>
          <a:r>
            <a:rPr lang="en-US" dirty="0" err="1"/>
            <a:t>cálculo</a:t>
          </a:r>
          <a:r>
            <a:rPr lang="en-US" dirty="0"/>
            <a:t> da </a:t>
          </a:r>
          <a:r>
            <a:rPr lang="en-US" dirty="0" err="1"/>
            <a:t>média</a:t>
          </a:r>
          <a:endParaRPr lang="en-US" dirty="0"/>
        </a:p>
      </dgm:t>
    </dgm:pt>
    <dgm:pt modelId="{1F6F69D5-E64E-4839-82AA-5631B070A470}" type="parTrans" cxnId="{AF0929FE-D0EF-4D9C-B52D-D180D09BE2B4}">
      <dgm:prSet/>
      <dgm:spPr/>
      <dgm:t>
        <a:bodyPr/>
        <a:lstStyle/>
        <a:p>
          <a:endParaRPr lang="en-US"/>
        </a:p>
      </dgm:t>
    </dgm:pt>
    <dgm:pt modelId="{DA9901AF-AA0B-44CE-9F6F-B656AD3F99CE}" type="sibTrans" cxnId="{AF0929FE-D0EF-4D9C-B52D-D180D09BE2B4}">
      <dgm:prSet/>
      <dgm:spPr/>
      <dgm:t>
        <a:bodyPr/>
        <a:lstStyle/>
        <a:p>
          <a:endParaRPr lang="en-US"/>
        </a:p>
      </dgm:t>
    </dgm:pt>
    <dgm:pt modelId="{91BFA967-1F4F-4C87-B6E8-3563A4B0A5F2}">
      <dgm:prSet/>
      <dgm:spPr/>
      <dgm:t>
        <a:bodyPr/>
        <a:lstStyle/>
        <a:p>
          <a:r>
            <a:rPr lang="en-US"/>
            <a:t>Sugestões para trabalhos futuros</a:t>
          </a:r>
        </a:p>
      </dgm:t>
    </dgm:pt>
    <dgm:pt modelId="{74392C94-C313-4851-991B-50C435742EF4}" type="parTrans" cxnId="{A60FFB46-A515-49E7-8338-C4F4993B3E01}">
      <dgm:prSet/>
      <dgm:spPr/>
      <dgm:t>
        <a:bodyPr/>
        <a:lstStyle/>
        <a:p>
          <a:endParaRPr lang="en-US"/>
        </a:p>
      </dgm:t>
    </dgm:pt>
    <dgm:pt modelId="{E54C2FE4-97A8-4B97-9AD4-8531ECDD1E5B}" type="sibTrans" cxnId="{A60FFB46-A515-49E7-8338-C4F4993B3E01}">
      <dgm:prSet/>
      <dgm:spPr/>
      <dgm:t>
        <a:bodyPr/>
        <a:lstStyle/>
        <a:p>
          <a:endParaRPr lang="en-US"/>
        </a:p>
      </dgm:t>
    </dgm:pt>
    <dgm:pt modelId="{919ACFEB-32AB-454A-9D13-583346845480}" type="pres">
      <dgm:prSet presAssocID="{8EB62238-7BCC-4709-8BD8-995B8CFA32A9}" presName="linear" presStyleCnt="0">
        <dgm:presLayoutVars>
          <dgm:animLvl val="lvl"/>
          <dgm:resizeHandles val="exact"/>
        </dgm:presLayoutVars>
      </dgm:prSet>
      <dgm:spPr/>
    </dgm:pt>
    <dgm:pt modelId="{C9F09E32-1D04-44E2-9CC2-49F0FAAB5A98}" type="pres">
      <dgm:prSet presAssocID="{D57F5820-17FE-419C-8F2D-6A196E92465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F1335BC-8EA8-4F8E-B493-C9224C84BB54}" type="pres">
      <dgm:prSet presAssocID="{BFF0288C-85C9-416E-A79B-213788BF2F5F}" presName="spacer" presStyleCnt="0"/>
      <dgm:spPr/>
    </dgm:pt>
    <dgm:pt modelId="{867D2B80-9EF7-499B-A663-317A23A60B64}" type="pres">
      <dgm:prSet presAssocID="{804D2843-FA7A-411D-BC31-BF0A47E0CFB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717E5A5-DB56-4B97-9923-8F724DC4C215}" type="pres">
      <dgm:prSet presAssocID="{75F19D3D-5AF9-4341-B83E-0263E6F3EDE1}" presName="spacer" presStyleCnt="0"/>
      <dgm:spPr/>
    </dgm:pt>
    <dgm:pt modelId="{D0F3B493-1E0C-4BB5-B775-7E7C05DF84EE}" type="pres">
      <dgm:prSet presAssocID="{8F3DEDEF-E13A-44B6-8881-ED8EE687D6B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877FA96-4DF6-4DCB-99B2-BA4C09B662D4}" type="pres">
      <dgm:prSet presAssocID="{8F3DEDEF-E13A-44B6-8881-ED8EE687D6BF}" presName="childText" presStyleLbl="revTx" presStyleIdx="0" presStyleCnt="1">
        <dgm:presLayoutVars>
          <dgm:bulletEnabled val="1"/>
        </dgm:presLayoutVars>
      </dgm:prSet>
      <dgm:spPr/>
    </dgm:pt>
    <dgm:pt modelId="{51B63CC4-1D49-49E2-8D43-698B8EC259C7}" type="pres">
      <dgm:prSet presAssocID="{91BFA967-1F4F-4C87-B6E8-3563A4B0A5F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B92EF06-06ED-4360-852A-0C701C7C4F4A}" type="presOf" srcId="{91BFA967-1F4F-4C87-B6E8-3563A4B0A5F2}" destId="{51B63CC4-1D49-49E2-8D43-698B8EC259C7}" srcOrd="0" destOrd="0" presId="urn:microsoft.com/office/officeart/2005/8/layout/vList2"/>
    <dgm:cxn modelId="{A0D86B0A-7E83-433A-A3C7-FDB30794E83F}" type="presOf" srcId="{A76ADC15-4147-4B39-9FD9-2EAC6324E50F}" destId="{1877FA96-4DF6-4DCB-99B2-BA4C09B662D4}" srcOrd="0" destOrd="0" presId="urn:microsoft.com/office/officeart/2005/8/layout/vList2"/>
    <dgm:cxn modelId="{D463DA14-A993-45E5-AF62-CBE77411185F}" type="presOf" srcId="{804D2843-FA7A-411D-BC31-BF0A47E0CFBF}" destId="{867D2B80-9EF7-499B-A663-317A23A60B64}" srcOrd="0" destOrd="0" presId="urn:microsoft.com/office/officeart/2005/8/layout/vList2"/>
    <dgm:cxn modelId="{2FD18D40-66C6-447F-A508-28DA727800BA}" type="presOf" srcId="{8F3DEDEF-E13A-44B6-8881-ED8EE687D6BF}" destId="{D0F3B493-1E0C-4BB5-B775-7E7C05DF84EE}" srcOrd="0" destOrd="0" presId="urn:microsoft.com/office/officeart/2005/8/layout/vList2"/>
    <dgm:cxn modelId="{A60FFB46-A515-49E7-8338-C4F4993B3E01}" srcId="{8EB62238-7BCC-4709-8BD8-995B8CFA32A9}" destId="{91BFA967-1F4F-4C87-B6E8-3563A4B0A5F2}" srcOrd="3" destOrd="0" parTransId="{74392C94-C313-4851-991B-50C435742EF4}" sibTransId="{E54C2FE4-97A8-4B97-9AD4-8531ECDD1E5B}"/>
    <dgm:cxn modelId="{E5DA5377-B771-4554-BB51-751307EA7888}" type="presOf" srcId="{C624A863-F364-480C-BB70-00E446AD642E}" destId="{1877FA96-4DF6-4DCB-99B2-BA4C09B662D4}" srcOrd="0" destOrd="1" presId="urn:microsoft.com/office/officeart/2005/8/layout/vList2"/>
    <dgm:cxn modelId="{96CC838C-C451-4F94-A202-D3D1A6533914}" type="presOf" srcId="{4BFCE611-40DF-47FB-8B97-70E7D9366EFB}" destId="{1877FA96-4DF6-4DCB-99B2-BA4C09B662D4}" srcOrd="0" destOrd="2" presId="urn:microsoft.com/office/officeart/2005/8/layout/vList2"/>
    <dgm:cxn modelId="{3DBB2D9B-C02B-4225-BB1F-98502CC3158C}" type="presOf" srcId="{D57F5820-17FE-419C-8F2D-6A196E924650}" destId="{C9F09E32-1D04-44E2-9CC2-49F0FAAB5A98}" srcOrd="0" destOrd="0" presId="urn:microsoft.com/office/officeart/2005/8/layout/vList2"/>
    <dgm:cxn modelId="{03EDCE9B-616C-452C-848D-81CE94A3069A}" type="presOf" srcId="{8EB62238-7BCC-4709-8BD8-995B8CFA32A9}" destId="{919ACFEB-32AB-454A-9D13-583346845480}" srcOrd="0" destOrd="0" presId="urn:microsoft.com/office/officeart/2005/8/layout/vList2"/>
    <dgm:cxn modelId="{3E2BB8BA-436A-4A85-A553-C0E21AAA5D8C}" srcId="{8F3DEDEF-E13A-44B6-8881-ED8EE687D6BF}" destId="{A76ADC15-4147-4B39-9FD9-2EAC6324E50F}" srcOrd="0" destOrd="0" parTransId="{DCCDE626-F0EB-4941-8568-4314CB97BBB4}" sibTransId="{DC155957-C243-4102-A5C0-BB0622219DFB}"/>
    <dgm:cxn modelId="{84DAEDCF-308C-49D8-A7CA-64554BA4DE3A}" srcId="{8F3DEDEF-E13A-44B6-8881-ED8EE687D6BF}" destId="{C624A863-F364-480C-BB70-00E446AD642E}" srcOrd="1" destOrd="0" parTransId="{9552F3D0-20CA-4360-A48D-C11D12357B31}" sibTransId="{5F9BA0F7-456A-4379-B4A6-43EA60DF4426}"/>
    <dgm:cxn modelId="{25C568E3-F49D-4273-8B90-7A2C760063C6}" srcId="{8EB62238-7BCC-4709-8BD8-995B8CFA32A9}" destId="{804D2843-FA7A-411D-BC31-BF0A47E0CFBF}" srcOrd="1" destOrd="0" parTransId="{F75A3DD0-216C-46F6-A007-38A2645EF374}" sibTransId="{75F19D3D-5AF9-4341-B83E-0263E6F3EDE1}"/>
    <dgm:cxn modelId="{8E1622F6-4D40-405A-9252-71EEAA3AAC84}" srcId="{8EB62238-7BCC-4709-8BD8-995B8CFA32A9}" destId="{D57F5820-17FE-419C-8F2D-6A196E924650}" srcOrd="0" destOrd="0" parTransId="{9CA25AF5-CE55-4D45-B318-BED11865A369}" sibTransId="{BFF0288C-85C9-416E-A79B-213788BF2F5F}"/>
    <dgm:cxn modelId="{2599B8F6-B0B1-4C68-9613-7FD60CA3D3AD}" srcId="{8EB62238-7BCC-4709-8BD8-995B8CFA32A9}" destId="{8F3DEDEF-E13A-44B6-8881-ED8EE687D6BF}" srcOrd="2" destOrd="0" parTransId="{1FC064D2-5F24-4208-B443-C0D7BD484396}" sibTransId="{21F67D72-D5ED-485E-97C1-F82173F502FB}"/>
    <dgm:cxn modelId="{AF0929FE-D0EF-4D9C-B52D-D180D09BE2B4}" srcId="{8F3DEDEF-E13A-44B6-8881-ED8EE687D6BF}" destId="{4BFCE611-40DF-47FB-8B97-70E7D9366EFB}" srcOrd="2" destOrd="0" parTransId="{1F6F69D5-E64E-4839-82AA-5631B070A470}" sibTransId="{DA9901AF-AA0B-44CE-9F6F-B656AD3F99CE}"/>
    <dgm:cxn modelId="{7970BEC0-A5A8-42F8-96DB-A6528FD593C3}" type="presParOf" srcId="{919ACFEB-32AB-454A-9D13-583346845480}" destId="{C9F09E32-1D04-44E2-9CC2-49F0FAAB5A98}" srcOrd="0" destOrd="0" presId="urn:microsoft.com/office/officeart/2005/8/layout/vList2"/>
    <dgm:cxn modelId="{83670A7D-625B-48B0-A1D5-F23F9FD578D3}" type="presParOf" srcId="{919ACFEB-32AB-454A-9D13-583346845480}" destId="{8F1335BC-8EA8-4F8E-B493-C9224C84BB54}" srcOrd="1" destOrd="0" presId="urn:microsoft.com/office/officeart/2005/8/layout/vList2"/>
    <dgm:cxn modelId="{29405C9D-DCBD-4CFB-83CB-030B370F3940}" type="presParOf" srcId="{919ACFEB-32AB-454A-9D13-583346845480}" destId="{867D2B80-9EF7-499B-A663-317A23A60B64}" srcOrd="2" destOrd="0" presId="urn:microsoft.com/office/officeart/2005/8/layout/vList2"/>
    <dgm:cxn modelId="{9229428C-AB9A-439F-B8DB-4B7E16D9035E}" type="presParOf" srcId="{919ACFEB-32AB-454A-9D13-583346845480}" destId="{8717E5A5-DB56-4B97-9923-8F724DC4C215}" srcOrd="3" destOrd="0" presId="urn:microsoft.com/office/officeart/2005/8/layout/vList2"/>
    <dgm:cxn modelId="{9CA73250-E809-47B3-9777-0621AC1C9B85}" type="presParOf" srcId="{919ACFEB-32AB-454A-9D13-583346845480}" destId="{D0F3B493-1E0C-4BB5-B775-7E7C05DF84EE}" srcOrd="4" destOrd="0" presId="urn:microsoft.com/office/officeart/2005/8/layout/vList2"/>
    <dgm:cxn modelId="{429C9B36-47CD-4A6F-A7EC-AF90E3817B9B}" type="presParOf" srcId="{919ACFEB-32AB-454A-9D13-583346845480}" destId="{1877FA96-4DF6-4DCB-99B2-BA4C09B662D4}" srcOrd="5" destOrd="0" presId="urn:microsoft.com/office/officeart/2005/8/layout/vList2"/>
    <dgm:cxn modelId="{45B13CB6-E994-4065-8FE3-D02EC7BB9432}" type="presParOf" srcId="{919ACFEB-32AB-454A-9D13-583346845480}" destId="{51B63CC4-1D49-49E2-8D43-698B8EC259C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F20C2F-9A4B-4C28-AF92-981EBD93E383}">
      <dsp:nvSpPr>
        <dsp:cNvPr id="0" name=""/>
        <dsp:cNvSpPr/>
      </dsp:nvSpPr>
      <dsp:spPr>
        <a:xfrm>
          <a:off x="0" y="15546"/>
          <a:ext cx="7290197" cy="94539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 dirty="0"/>
            <a:t>Caso 1:    um campeonato x dois campeonatos</a:t>
          </a:r>
          <a:endParaRPr lang="en-US" sz="2600" kern="1200" dirty="0"/>
        </a:p>
      </dsp:txBody>
      <dsp:txXfrm>
        <a:off x="46150" y="61696"/>
        <a:ext cx="7197897" cy="853096"/>
      </dsp:txXfrm>
    </dsp:sp>
    <dsp:sp modelId="{BA3EAEA4-1843-42C7-99A1-50100EF97919}">
      <dsp:nvSpPr>
        <dsp:cNvPr id="0" name=""/>
        <dsp:cNvSpPr/>
      </dsp:nvSpPr>
      <dsp:spPr>
        <a:xfrm>
          <a:off x="0" y="1035823"/>
          <a:ext cx="7290197" cy="945396"/>
        </a:xfrm>
        <a:prstGeom prst="roundRect">
          <a:avLst/>
        </a:prstGeom>
        <a:solidFill>
          <a:schemeClr val="accent2">
            <a:hueOff val="-3670562"/>
            <a:satOff val="16196"/>
            <a:lumOff val="-274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 dirty="0"/>
            <a:t>Caso 2:    três classes x duas classes</a:t>
          </a:r>
          <a:endParaRPr lang="en-US" sz="2600" kern="1200" dirty="0"/>
        </a:p>
      </dsp:txBody>
      <dsp:txXfrm>
        <a:off x="46150" y="1081973"/>
        <a:ext cx="7197897" cy="853096"/>
      </dsp:txXfrm>
    </dsp:sp>
    <dsp:sp modelId="{F560C645-C4A9-48AE-9B17-D90AA4B61AA4}">
      <dsp:nvSpPr>
        <dsp:cNvPr id="0" name=""/>
        <dsp:cNvSpPr/>
      </dsp:nvSpPr>
      <dsp:spPr>
        <a:xfrm>
          <a:off x="0" y="2056099"/>
          <a:ext cx="7290197" cy="945396"/>
        </a:xfrm>
        <a:prstGeom prst="roundRect">
          <a:avLst/>
        </a:prstGeom>
        <a:solidFill>
          <a:schemeClr val="accent2">
            <a:hueOff val="-7341125"/>
            <a:satOff val="32393"/>
            <a:lumOff val="-549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 dirty="0"/>
            <a:t>Caso 3:    comparação entre as médias das partidas                       anteriores</a:t>
          </a:r>
          <a:endParaRPr lang="en-US" sz="2600" kern="1200" dirty="0"/>
        </a:p>
      </dsp:txBody>
      <dsp:txXfrm>
        <a:off x="46150" y="2102249"/>
        <a:ext cx="7197897" cy="8530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F09E32-1D04-44E2-9CC2-49F0FAAB5A98}">
      <dsp:nvSpPr>
        <dsp:cNvPr id="0" name=""/>
        <dsp:cNvSpPr/>
      </dsp:nvSpPr>
      <dsp:spPr>
        <a:xfrm>
          <a:off x="0" y="8774"/>
          <a:ext cx="6048340" cy="5019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Caso base e comparação com referências</a:t>
          </a:r>
        </a:p>
      </dsp:txBody>
      <dsp:txXfrm>
        <a:off x="24502" y="33276"/>
        <a:ext cx="5999336" cy="452926"/>
      </dsp:txXfrm>
    </dsp:sp>
    <dsp:sp modelId="{867D2B80-9EF7-499B-A663-317A23A60B64}">
      <dsp:nvSpPr>
        <dsp:cNvPr id="0" name=""/>
        <dsp:cNvSpPr/>
      </dsp:nvSpPr>
      <dsp:spPr>
        <a:xfrm>
          <a:off x="0" y="574064"/>
          <a:ext cx="6048340" cy="5019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Características das melhores variáveis</a:t>
          </a:r>
        </a:p>
      </dsp:txBody>
      <dsp:txXfrm>
        <a:off x="24502" y="598566"/>
        <a:ext cx="5999336" cy="452926"/>
      </dsp:txXfrm>
    </dsp:sp>
    <dsp:sp modelId="{D0F3B493-1E0C-4BB5-B775-7E7C05DF84EE}">
      <dsp:nvSpPr>
        <dsp:cNvPr id="0" name=""/>
        <dsp:cNvSpPr/>
      </dsp:nvSpPr>
      <dsp:spPr>
        <a:xfrm>
          <a:off x="0" y="1139355"/>
          <a:ext cx="6048340" cy="5019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Avaliação da quantidade de:</a:t>
          </a:r>
        </a:p>
      </dsp:txBody>
      <dsp:txXfrm>
        <a:off x="24502" y="1163857"/>
        <a:ext cx="5999336" cy="452926"/>
      </dsp:txXfrm>
    </dsp:sp>
    <dsp:sp modelId="{1877FA96-4DF6-4DCB-99B2-BA4C09B662D4}">
      <dsp:nvSpPr>
        <dsp:cNvPr id="0" name=""/>
        <dsp:cNvSpPr/>
      </dsp:nvSpPr>
      <dsp:spPr>
        <a:xfrm>
          <a:off x="0" y="1641285"/>
          <a:ext cx="6048340" cy="796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35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dados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classes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 err="1"/>
            <a:t>partidas</a:t>
          </a:r>
          <a:r>
            <a:rPr lang="en-US" sz="1700" kern="1200" dirty="0"/>
            <a:t> </a:t>
          </a:r>
          <a:r>
            <a:rPr lang="en-US" sz="1700" kern="1200" dirty="0" err="1"/>
            <a:t>anteriores</a:t>
          </a:r>
          <a:r>
            <a:rPr lang="en-US" sz="1700" kern="1200" dirty="0"/>
            <a:t> para o </a:t>
          </a:r>
          <a:r>
            <a:rPr lang="en-US" sz="1700" kern="1200" dirty="0" err="1"/>
            <a:t>cálculo</a:t>
          </a:r>
          <a:r>
            <a:rPr lang="en-US" sz="1700" kern="1200" dirty="0"/>
            <a:t> da </a:t>
          </a:r>
          <a:r>
            <a:rPr lang="en-US" sz="1700" kern="1200" dirty="0" err="1"/>
            <a:t>média</a:t>
          </a:r>
          <a:endParaRPr lang="en-US" sz="1700" kern="1200" dirty="0"/>
        </a:p>
      </dsp:txBody>
      <dsp:txXfrm>
        <a:off x="0" y="1641285"/>
        <a:ext cx="6048340" cy="796950"/>
      </dsp:txXfrm>
    </dsp:sp>
    <dsp:sp modelId="{51B63CC4-1D49-49E2-8D43-698B8EC259C7}">
      <dsp:nvSpPr>
        <dsp:cNvPr id="0" name=""/>
        <dsp:cNvSpPr/>
      </dsp:nvSpPr>
      <dsp:spPr>
        <a:xfrm>
          <a:off x="0" y="2438235"/>
          <a:ext cx="6048340" cy="5019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Sugestões para trabalhos futuros</a:t>
          </a:r>
        </a:p>
      </dsp:txBody>
      <dsp:txXfrm>
        <a:off x="24502" y="2462737"/>
        <a:ext cx="5999336" cy="4529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highlight>
                <a:schemeClr val="accent4"/>
              </a:highlight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0b415442e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0b415442e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  <a:highlight>
                <a:srgbClr val="FFFF00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0b415442ef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0b415442ef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0b415442ef_0_9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0b415442ef_0_9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b415442ef_0_9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0b415442ef_0_9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highlight>
                <a:schemeClr val="accent4"/>
              </a:highlight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b415442ef_0_9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0b415442ef_0_9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highlight>
                <a:schemeClr val="accent4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342612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b415442ef_0_9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0b415442ef_0_9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highlight>
                <a:schemeClr val="accent4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93421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b415442ef_0_9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0b415442ef_0_9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0b415442ef_0_9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0b415442ef_0_9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highlight>
                <a:schemeClr val="accent4"/>
              </a:highlight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0b415442ef_0_9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0b415442ef_0_9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highlight>
                <a:schemeClr val="accent4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403523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0b415442ef_0_9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0b415442ef_0_9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highlight>
                <a:schemeClr val="accent4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72098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0b415442ef_0_9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0b415442ef_0_9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highlight>
                <a:schemeClr val="accent4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817978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0b415442ef_0_9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0b415442ef_0_9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highlight>
                <a:schemeClr val="accent4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499583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0b415442ef_0_9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0b415442ef_0_9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highlight>
                <a:schemeClr val="accent4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228503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0b5e151213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0b5e151213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9144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350"/>
            </a:lvl4pPr>
            <a:lvl5pPr marL="1371600" indent="0" algn="ctr">
              <a:buNone/>
              <a:defRPr sz="1350"/>
            </a:lvl5pPr>
            <a:lvl6pPr marL="1714500" indent="0" algn="ctr">
              <a:buNone/>
              <a:defRPr sz="1350"/>
            </a:lvl6pPr>
            <a:lvl7pPr marL="2057400" indent="0" algn="ctr">
              <a:buNone/>
              <a:defRPr sz="1350"/>
            </a:lvl7pPr>
            <a:lvl8pPr marL="2400300" indent="0" algn="ctr">
              <a:buNone/>
              <a:defRPr sz="1350"/>
            </a:lvl8pPr>
            <a:lvl9pPr marL="2743200" indent="0" algn="ctr">
              <a:buNone/>
              <a:defRPr sz="135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8E36636D-D922-432D-A958-524484B5923D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205335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827948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91440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b="0" spc="15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139013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1714500"/>
            <a:ext cx="3566160" cy="301752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1714500"/>
            <a:ext cx="3566160" cy="301752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025910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725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225841"/>
            <a:ext cx="3566160" cy="2506179"/>
          </a:xfrm>
        </p:spPr>
        <p:txBody>
          <a:bodyPr lIns="45720" rIns="4572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725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225841"/>
            <a:ext cx="3566160" cy="2506179"/>
          </a:xfrm>
        </p:spPr>
        <p:txBody>
          <a:bodyPr lIns="45720" rIns="4572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69129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696694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703785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353632"/>
            <a:ext cx="3291840" cy="130302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617220"/>
            <a:ext cx="4258818" cy="388848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1693129"/>
            <a:ext cx="3291840" cy="282172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450"/>
              </a:spcBef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360302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4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3429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3720104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09936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490400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71500"/>
            <a:ext cx="1971675" cy="4057650"/>
          </a:xfrm>
        </p:spPr>
        <p:txBody>
          <a:bodyPr vert="eaVert" lIns="45720" tIns="91440" rIns="45720" bIns="9144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0" y="571500"/>
            <a:ext cx="5686425" cy="40576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44447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765366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7806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7" y="1714500"/>
            <a:ext cx="7290053" cy="301752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6" y="4853028"/>
            <a:ext cx="1615607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8E36636D-D922-432D-A958-524484B5923D}" type="datetimeFigureOut">
              <a:rPr lang="en-US" smtClean="0"/>
              <a:pPr/>
              <a:t>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199" y="4853028"/>
            <a:ext cx="4426094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4853028"/>
            <a:ext cx="730250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778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  <p:sldLayoutId id="2147483917" r:id="rId8"/>
    <p:sldLayoutId id="2147483918" r:id="rId9"/>
    <p:sldLayoutId id="2147483919" r:id="rId10"/>
    <p:sldLayoutId id="2147483920" r:id="rId11"/>
    <p:sldLayoutId id="2147483921" r:id="rId12"/>
  </p:sldLayoutIdLst>
  <p:hf sldNum="0" hdr="0" ftr="0" dt="0"/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750" kern="1200" cap="all" spc="75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19888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2"/>
        </a:buClr>
        <a:buFont typeface="Wingdings 3" pitchFamily="18" charset="2"/>
        <a:buChar char="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3360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2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44577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2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58293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2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2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795528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2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912114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2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0218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2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/>
        </p:nvSpPr>
        <p:spPr>
          <a:xfrm>
            <a:off x="3743850" y="408389"/>
            <a:ext cx="1656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Projeto Final 2</a:t>
            </a:r>
            <a:r>
              <a:rPr lang="pt-BR" sz="1800" dirty="0"/>
              <a:t> </a:t>
            </a:r>
            <a:endParaRPr sz="1800"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2975100" y="3507116"/>
            <a:ext cx="3193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/>
              <a:t>Aluno: Michel de Farias Albuquerque</a:t>
            </a:r>
            <a:endParaRPr sz="1600"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2299038" y="1695168"/>
            <a:ext cx="5145024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Aprendizado de Máquinas na previsão de resultados de jogos de futebol</a:t>
            </a:r>
          </a:p>
        </p:txBody>
      </p:sp>
      <p:sp>
        <p:nvSpPr>
          <p:cNvPr id="90" name="Google Shape;90;p13"/>
          <p:cNvSpPr txBox="1"/>
          <p:nvPr/>
        </p:nvSpPr>
        <p:spPr>
          <a:xfrm>
            <a:off x="3835585" y="4273476"/>
            <a:ext cx="1472829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Janeiro/2025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4C66818-CCDC-456D-B9B5-A5D554D30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Google Shape;95;p14"/>
          <p:cNvSpPr txBox="1">
            <a:spLocks noGrp="1"/>
          </p:cNvSpPr>
          <p:nvPr>
            <p:ph type="title"/>
          </p:nvPr>
        </p:nvSpPr>
        <p:spPr>
          <a:xfrm>
            <a:off x="768096" y="438912"/>
            <a:ext cx="3549183" cy="1124712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914400">
              <a:spcBef>
                <a:spcPct val="0"/>
              </a:spcBef>
              <a:spcAft>
                <a:spcPts val="0"/>
              </a:spcAft>
            </a:pPr>
            <a:r>
              <a:rPr lang="en-US" sz="5000" spc="100"/>
              <a:t>INTRODUÇÃO</a:t>
            </a:r>
          </a:p>
        </p:txBody>
      </p:sp>
      <p:sp>
        <p:nvSpPr>
          <p:cNvPr id="96" name="Google Shape;96;p14"/>
          <p:cNvSpPr txBox="1">
            <a:spLocks noGrp="1"/>
          </p:cNvSpPr>
          <p:nvPr>
            <p:ph type="body" idx="1"/>
          </p:nvPr>
        </p:nvSpPr>
        <p:spPr>
          <a:xfrm>
            <a:off x="768096" y="1714500"/>
            <a:ext cx="3492177" cy="3017520"/>
          </a:xfrm>
          <a:prstGeom prst="rect">
            <a:avLst/>
          </a:prstGeom>
        </p:spPr>
        <p:txBody>
          <a:bodyPr spcFirstLastPara="1" vert="horz" lIns="45720" tIns="45720" rIns="45720" bIns="45720" rtlCol="0" anchorCtr="0">
            <a:normAutofit fontScale="85000" lnSpcReduction="20000"/>
          </a:bodyPr>
          <a:lstStyle/>
          <a:p>
            <a:pPr marL="285750" indent="-2857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700" dirty="0" err="1"/>
              <a:t>Motivação</a:t>
            </a:r>
            <a:endParaRPr lang="en-US" sz="1700" dirty="0"/>
          </a:p>
          <a:p>
            <a:pPr marL="0" indent="0" defTabSz="914400">
              <a:spcBef>
                <a:spcPts val="1200"/>
              </a:spcBef>
              <a:buNone/>
            </a:pPr>
            <a:endParaRPr lang="en-US" sz="1700" dirty="0"/>
          </a:p>
          <a:p>
            <a:pPr marL="285750" indent="-2857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700" dirty="0" err="1"/>
              <a:t>Futebol</a:t>
            </a:r>
            <a:r>
              <a:rPr lang="en-US" sz="1700" dirty="0"/>
              <a:t> </a:t>
            </a:r>
          </a:p>
          <a:p>
            <a:pPr marL="1200150" lvl="2" indent="-2857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700" dirty="0"/>
              <a:t>O </a:t>
            </a:r>
            <a:r>
              <a:rPr lang="en-US" sz="1700" dirty="0" err="1"/>
              <a:t>esporte</a:t>
            </a:r>
            <a:r>
              <a:rPr lang="en-US" sz="1700" dirty="0"/>
              <a:t> de </a:t>
            </a:r>
            <a:r>
              <a:rPr lang="en-US" sz="1700" dirty="0" err="1"/>
              <a:t>maior</a:t>
            </a:r>
            <a:r>
              <a:rPr lang="en-US" sz="1700" dirty="0"/>
              <a:t> </a:t>
            </a:r>
            <a:r>
              <a:rPr lang="en-US" sz="1700" dirty="0" err="1"/>
              <a:t>audiência</a:t>
            </a:r>
            <a:r>
              <a:rPr lang="en-US" sz="1700" dirty="0"/>
              <a:t> no </a:t>
            </a:r>
            <a:r>
              <a:rPr lang="en-US" sz="1700" dirty="0" err="1"/>
              <a:t>mundo</a:t>
            </a:r>
            <a:endParaRPr lang="en-US" sz="1700" dirty="0"/>
          </a:p>
          <a:p>
            <a:pPr marL="1200150" lvl="2" indent="-2857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700" dirty="0"/>
              <a:t>Mais que um </a:t>
            </a:r>
            <a:r>
              <a:rPr lang="en-US" sz="1700" dirty="0" err="1"/>
              <a:t>jogo</a:t>
            </a:r>
            <a:endParaRPr lang="en-US" sz="1700" dirty="0"/>
          </a:p>
          <a:p>
            <a:pPr marL="1657350" lvl="3" indent="-2857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lvl="0" indent="-2857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700" dirty="0" err="1"/>
              <a:t>Apostas</a:t>
            </a:r>
            <a:r>
              <a:rPr lang="en-US" sz="1700" dirty="0"/>
              <a:t> </a:t>
            </a:r>
            <a:r>
              <a:rPr lang="en-US" sz="1700" dirty="0" err="1"/>
              <a:t>Esportivas</a:t>
            </a:r>
            <a:r>
              <a:rPr lang="en-US" sz="1700" dirty="0"/>
              <a:t>      </a:t>
            </a:r>
          </a:p>
          <a:p>
            <a:pPr marL="1085850" lvl="2" indent="-1714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700" dirty="0" err="1"/>
              <a:t>Crescimento</a:t>
            </a:r>
            <a:r>
              <a:rPr lang="en-US" sz="1700" dirty="0"/>
              <a:t> Mundial</a:t>
            </a:r>
          </a:p>
          <a:p>
            <a:pPr marL="1085850" lvl="2" indent="-1714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700" dirty="0" err="1"/>
              <a:t>Faturamento</a:t>
            </a:r>
            <a:endParaRPr lang="en-US" sz="1700" dirty="0"/>
          </a:p>
          <a:p>
            <a:pPr marL="1371600" lvl="3" indent="0" defTabSz="914400">
              <a:spcBef>
                <a:spcPts val="1200"/>
              </a:spcBef>
              <a:buNone/>
            </a:pPr>
            <a:endParaRPr lang="en-US" sz="1700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1CAEDA1-2D9E-4101-B553-8060F59F8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2456" y="0"/>
            <a:ext cx="4579088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8AF0666-DC61-45FB-A7C3-3666814B1A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3756" y="241298"/>
            <a:ext cx="2949380" cy="27466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 descr="Gráfico&#10;&#10;Descrição gerada automaticamente">
            <a:extLst>
              <a:ext uri="{FF2B5EF4-FFF2-40B4-BE49-F238E27FC236}">
                <a16:creationId xmlns:a16="http://schemas.microsoft.com/office/drawing/2014/main" id="{C2C2D59E-EAF1-9929-82B8-C8B0C1509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494" y="268982"/>
            <a:ext cx="2407904" cy="24079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7" name="Rectangle 106">
            <a:extLst>
              <a:ext uri="{FF2B5EF4-FFF2-40B4-BE49-F238E27FC236}">
                <a16:creationId xmlns:a16="http://schemas.microsoft.com/office/drawing/2014/main" id="{EF8AA041-5690-47D3-93E9-B8DE194D7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81846" y="241299"/>
            <a:ext cx="1014521" cy="2751406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92E6D62-9EA0-4821-A9F1-919E480D5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3756" y="3118085"/>
            <a:ext cx="1578562" cy="1734211"/>
          </a:xfrm>
          <a:prstGeom prst="rect">
            <a:avLst/>
          </a:prstGeom>
          <a:solidFill>
            <a:schemeClr val="accent2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939F7F10-4ADB-4678-918B-BC1498630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2968" y="3118085"/>
            <a:ext cx="2405032" cy="17342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Interface gráfica do usuário&#10;&#10;Descrição gerada automaticamente com confiança baixa">
            <a:extLst>
              <a:ext uri="{FF2B5EF4-FFF2-40B4-BE49-F238E27FC236}">
                <a16:creationId xmlns:a16="http://schemas.microsoft.com/office/drawing/2014/main" id="{93FD2C42-4435-FF78-A229-B50FEC6DD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618" y="3234004"/>
            <a:ext cx="2160270" cy="12043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FFAF6F5-9688-A3B6-1D8A-F661F67EF028}"/>
              </a:ext>
            </a:extLst>
          </p:cNvPr>
          <p:cNvSpPr txBox="1"/>
          <p:nvPr/>
        </p:nvSpPr>
        <p:spPr>
          <a:xfrm>
            <a:off x="4999388" y="2666661"/>
            <a:ext cx="2759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Figura 1: Quantidade de acessos em sites de apostas no mundo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4F5F2C9-3570-CD1F-AF7B-50F38A028711}"/>
              </a:ext>
            </a:extLst>
          </p:cNvPr>
          <p:cNvSpPr txBox="1"/>
          <p:nvPr/>
        </p:nvSpPr>
        <p:spPr>
          <a:xfrm>
            <a:off x="6684501" y="4455063"/>
            <a:ext cx="2087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Figura 2: Estimativa de faturamento dos sites de apostas nos EUA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B0AD926A-6A49-4FAF-A392-4534F4E93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Google Shape;101;p15"/>
          <p:cNvSpPr txBox="1">
            <a:spLocks noGrp="1"/>
          </p:cNvSpPr>
          <p:nvPr>
            <p:ph type="title"/>
          </p:nvPr>
        </p:nvSpPr>
        <p:spPr>
          <a:xfrm>
            <a:off x="768096" y="438912"/>
            <a:ext cx="4550113" cy="1124712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914400">
              <a:spcBef>
                <a:spcPct val="0"/>
              </a:spcBef>
              <a:spcAft>
                <a:spcPts val="0"/>
              </a:spcAft>
              <a:buSzPts val="990"/>
            </a:pPr>
            <a:r>
              <a:rPr lang="en-US" sz="5000" b="0" u="sng" spc="100"/>
              <a:t>Objetivos</a:t>
            </a:r>
          </a:p>
        </p:txBody>
      </p:sp>
      <p:sp>
        <p:nvSpPr>
          <p:cNvPr id="102" name="Google Shape;102;p15"/>
          <p:cNvSpPr txBox="1">
            <a:spLocks noGrp="1"/>
          </p:cNvSpPr>
          <p:nvPr>
            <p:ph type="body" idx="1"/>
          </p:nvPr>
        </p:nvSpPr>
        <p:spPr>
          <a:xfrm>
            <a:off x="768096" y="1714500"/>
            <a:ext cx="4550113" cy="3017520"/>
          </a:xfrm>
          <a:prstGeom prst="rect">
            <a:avLst/>
          </a:prstGeom>
        </p:spPr>
        <p:txBody>
          <a:bodyPr spcFirstLastPara="1" vert="horz" lIns="45720" tIns="45720" rIns="45720" bIns="45720" rtlCol="0" anchorCtr="0">
            <a:normAutofit/>
          </a:bodyPr>
          <a:lstStyle/>
          <a:p>
            <a:pPr defTabSz="91440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/>
              <a:t>Previsões de resultados de jogos de futebol</a:t>
            </a:r>
          </a:p>
          <a:p>
            <a:pPr defTabSz="914400"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en-US"/>
          </a:p>
          <a:p>
            <a:pPr defTabSz="91440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/>
              <a:t>Comparação com referências</a:t>
            </a:r>
          </a:p>
        </p:txBody>
      </p:sp>
      <p:pic>
        <p:nvPicPr>
          <p:cNvPr id="104" name="Picture 103" descr="Bola de futebol no gol">
            <a:extLst>
              <a:ext uri="{FF2B5EF4-FFF2-40B4-BE49-F238E27FC236}">
                <a16:creationId xmlns:a16="http://schemas.microsoft.com/office/drawing/2014/main" id="{A34B75E8-6FCD-289B-AD02-2337F0421E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563" r="35277"/>
          <a:stretch/>
        </p:blipFill>
        <p:spPr>
          <a:xfrm>
            <a:off x="5664199" y="10"/>
            <a:ext cx="3479800" cy="51434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F4F4AF38-8AAD-4B65-9274-0033CABC4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81CE8CA9-D6D2-4C46-8070-9566F894E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101411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768096" y="438912"/>
            <a:ext cx="2834314" cy="1124712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914400">
              <a:spcBef>
                <a:spcPct val="0"/>
              </a:spcBef>
              <a:spcAft>
                <a:spcPts val="0"/>
              </a:spcAft>
            </a:pPr>
            <a:r>
              <a:rPr lang="en-US" sz="3300" kern="1200" cap="all" spc="1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MATERIAL E MÉTODOS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72B31CF5-BEC2-457D-A52F-6A5CCB066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Google Shape;108;p16"/>
          <p:cNvSpPr txBox="1">
            <a:spLocks noGrp="1"/>
          </p:cNvSpPr>
          <p:nvPr>
            <p:ph type="body" idx="1"/>
          </p:nvPr>
        </p:nvSpPr>
        <p:spPr>
          <a:xfrm>
            <a:off x="768096" y="1714500"/>
            <a:ext cx="2843784" cy="2948940"/>
          </a:xfrm>
          <a:prstGeom prst="rect">
            <a:avLst/>
          </a:prstGeom>
        </p:spPr>
        <p:txBody>
          <a:bodyPr spcFirstLastPara="1" vert="horz" lIns="45720" tIns="45720" rIns="45720" bIns="45720" rtlCol="0" anchorCtr="0">
            <a:normAutofit/>
          </a:bodyPr>
          <a:lstStyle/>
          <a:p>
            <a:pPr marL="0" lvl="0" indent="0" defTabSz="91440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 dirty="0"/>
              <a:t>Base de Dados</a:t>
            </a:r>
          </a:p>
          <a:p>
            <a:pPr marL="285750" lvl="0" indent="-285750" defTabSz="91440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dirty="0"/>
              <a:t>Fonte: FBREF/</a:t>
            </a:r>
            <a:r>
              <a:rPr lang="en-US" dirty="0" err="1"/>
              <a:t>worldfootballR</a:t>
            </a:r>
            <a:endParaRPr lang="en-US" dirty="0"/>
          </a:p>
          <a:p>
            <a:pPr marL="285750" lvl="0" indent="-285750" defTabSz="91440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lvl="0" indent="-285750" defTabSz="91440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dirty="0"/>
              <a:t>Campeonato </a:t>
            </a:r>
            <a:r>
              <a:rPr lang="en-US" dirty="0" err="1"/>
              <a:t>Inglês</a:t>
            </a:r>
            <a:r>
              <a:rPr lang="en-US" dirty="0"/>
              <a:t> de </a:t>
            </a:r>
            <a:r>
              <a:rPr lang="en-US" dirty="0" err="1"/>
              <a:t>Futebol</a:t>
            </a:r>
            <a:r>
              <a:rPr lang="en-US" dirty="0"/>
              <a:t> (2016 à 2018)</a:t>
            </a:r>
          </a:p>
          <a:p>
            <a:pPr marL="285750" lvl="0" indent="-285750" defTabSz="91440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lvl="0" indent="-285750" defTabSz="91440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dirty="0"/>
              <a:t>760 </a:t>
            </a:r>
            <a:r>
              <a:rPr lang="en-US" dirty="0" err="1"/>
              <a:t>observações</a:t>
            </a:r>
            <a:r>
              <a:rPr lang="en-US" dirty="0"/>
              <a:t> e 97 </a:t>
            </a:r>
            <a:r>
              <a:rPr lang="en-US" dirty="0" err="1"/>
              <a:t>variáveis</a:t>
            </a:r>
            <a:endParaRPr lang="en-US" dirty="0"/>
          </a:p>
          <a:p>
            <a:pPr marL="285750" lvl="0" indent="-285750" defTabSz="914400">
              <a:spcBef>
                <a:spcPts val="1200"/>
              </a:spcBef>
              <a:spcAft>
                <a:spcPts val="0"/>
              </a:spcAft>
              <a:buFontTx/>
              <a:buChar char="-"/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3" name="Imagem 2" descr="Texto&#10;&#10;Descrição gerada automaticamente">
            <a:extLst>
              <a:ext uri="{FF2B5EF4-FFF2-40B4-BE49-F238E27FC236}">
                <a16:creationId xmlns:a16="http://schemas.microsoft.com/office/drawing/2014/main" id="{8C5D7046-3667-DF60-DE80-B24698F4F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99117"/>
            <a:ext cx="4091940" cy="254526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878EDD4-C543-436F-4630-4D926847CD92}"/>
              </a:ext>
            </a:extLst>
          </p:cNvPr>
          <p:cNvSpPr txBox="1"/>
          <p:nvPr/>
        </p:nvSpPr>
        <p:spPr>
          <a:xfrm>
            <a:off x="5538439" y="1068285"/>
            <a:ext cx="410141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Tabela 1: Variáveis da base de dados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729450" y="587077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MATERIAL E MÉTODOS</a:t>
            </a:r>
          </a:p>
        </p:txBody>
      </p:sp>
      <p:sp>
        <p:nvSpPr>
          <p:cNvPr id="114" name="Google Shape;114;p17"/>
          <p:cNvSpPr txBox="1">
            <a:spLocks noGrp="1"/>
          </p:cNvSpPr>
          <p:nvPr>
            <p:ph type="body" idx="1"/>
          </p:nvPr>
        </p:nvSpPr>
        <p:spPr>
          <a:xfrm>
            <a:off x="729450" y="1365975"/>
            <a:ext cx="7799100" cy="36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u="sng" dirty="0">
                <a:solidFill>
                  <a:srgbClr val="000000"/>
                </a:solidFill>
              </a:rPr>
              <a:t>Base de Dados</a:t>
            </a: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pt-BR" sz="1600" dirty="0">
                <a:solidFill>
                  <a:srgbClr val="000000"/>
                </a:solidFill>
              </a:rPr>
              <a:t>Adequação da base ao trabalho</a:t>
            </a:r>
          </a:p>
          <a:p>
            <a:pPr marL="0" lvl="0" indent="0">
              <a:spcBef>
                <a:spcPts val="1200"/>
              </a:spcBef>
              <a:buNone/>
            </a:pPr>
            <a:endParaRPr lang="pt-BR" sz="1600" dirty="0">
              <a:solidFill>
                <a:srgbClr val="000000"/>
              </a:solidFill>
            </a:endParaRP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pt-BR" sz="1600" dirty="0">
                <a:solidFill>
                  <a:srgbClr val="000000"/>
                </a:solidFill>
              </a:rPr>
              <a:t>Base original x base modificada</a:t>
            </a:r>
          </a:p>
          <a:p>
            <a:pPr marL="285750" lvl="0" indent="-285750">
              <a:spcBef>
                <a:spcPts val="1200"/>
              </a:spcBef>
              <a:buFont typeface="Wingdings" panose="05000000000000000000" pitchFamily="2" charset="2"/>
              <a:buChar char="Ø"/>
            </a:pPr>
            <a:endParaRPr lang="pt-BR" sz="1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000000"/>
                </a:solidFill>
              </a:rPr>
              <a:t>                   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DBB380E-846A-89C4-BB9D-3E2E82E87F9A}"/>
              </a:ext>
            </a:extLst>
          </p:cNvPr>
          <p:cNvSpPr txBox="1"/>
          <p:nvPr/>
        </p:nvSpPr>
        <p:spPr>
          <a:xfrm>
            <a:off x="5263899" y="858431"/>
            <a:ext cx="23214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Tabela 1: Base original com jogos do Chelsea.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16E36B3-BE51-66E8-2D5A-82FF850F1846}"/>
              </a:ext>
            </a:extLst>
          </p:cNvPr>
          <p:cNvSpPr txBox="1"/>
          <p:nvPr/>
        </p:nvSpPr>
        <p:spPr>
          <a:xfrm>
            <a:off x="5263899" y="2740453"/>
            <a:ext cx="25037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Tabela 2: Base modificada com jogos do Chelsea.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3264929-C07F-5BFE-2A2B-58DB103ED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624" y="1112054"/>
            <a:ext cx="4748690" cy="134321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52B606BA-9A95-BF85-FB81-69BCF04AA2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0624" y="2971285"/>
            <a:ext cx="4748690" cy="12821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729450" y="587077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MATERIAL E MÉTODOS</a:t>
            </a:r>
          </a:p>
        </p:txBody>
      </p:sp>
      <p:sp>
        <p:nvSpPr>
          <p:cNvPr id="114" name="Google Shape;114;p17"/>
          <p:cNvSpPr txBox="1">
            <a:spLocks noGrp="1"/>
          </p:cNvSpPr>
          <p:nvPr>
            <p:ph type="body" idx="1"/>
          </p:nvPr>
        </p:nvSpPr>
        <p:spPr>
          <a:xfrm>
            <a:off x="729450" y="1365975"/>
            <a:ext cx="7799100" cy="36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u="sng" dirty="0">
                <a:solidFill>
                  <a:srgbClr val="000000"/>
                </a:solidFill>
              </a:rPr>
              <a:t>Base de Dados</a:t>
            </a:r>
          </a:p>
          <a:p>
            <a:pPr marL="0" lvl="0" indent="0">
              <a:spcBef>
                <a:spcPts val="1200"/>
              </a:spcBef>
              <a:buNone/>
            </a:pPr>
            <a:endParaRPr lang="pt-BR" sz="1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000000"/>
                </a:solidFill>
              </a:rPr>
              <a:t>                   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F8D43DD-EC39-4C1E-76FF-4E66635D6CAB}"/>
              </a:ext>
            </a:extLst>
          </p:cNvPr>
          <p:cNvSpPr txBox="1"/>
          <p:nvPr/>
        </p:nvSpPr>
        <p:spPr>
          <a:xfrm>
            <a:off x="2170686" y="4237788"/>
            <a:ext cx="48026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Figura 3: Amostra com observações da base modificada com a variável alvo e mais outras variáveis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CB09DD9-3AB6-39D2-4152-A0F02912D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976" y="2089679"/>
            <a:ext cx="5970047" cy="20947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5690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D84960AC-1CD6-452A-B5F4-2186E3FD7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768096" y="438912"/>
            <a:ext cx="6013704" cy="1124712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914400">
              <a:spcBef>
                <a:spcPct val="0"/>
              </a:spcBef>
              <a:spcAft>
                <a:spcPts val="0"/>
              </a:spcAft>
            </a:pPr>
            <a:r>
              <a:rPr lang="en-US" sz="5000" spc="100" dirty="0"/>
              <a:t>MATERIAL E MÉTODOS</a:t>
            </a:r>
          </a:p>
        </p:txBody>
      </p:sp>
      <p:sp>
        <p:nvSpPr>
          <p:cNvPr id="114" name="Google Shape;114;p17"/>
          <p:cNvSpPr txBox="1">
            <a:spLocks noGrp="1"/>
          </p:cNvSpPr>
          <p:nvPr>
            <p:ph type="body" idx="1"/>
          </p:nvPr>
        </p:nvSpPr>
        <p:spPr>
          <a:xfrm>
            <a:off x="768096" y="1714500"/>
            <a:ext cx="6013703" cy="3017520"/>
          </a:xfrm>
          <a:prstGeom prst="rect">
            <a:avLst/>
          </a:prstGeom>
        </p:spPr>
        <p:txBody>
          <a:bodyPr spcFirstLastPara="1" vert="horz" lIns="45720" tIns="45720" rIns="45720" bIns="45720" rtlCol="0" anchorCtr="0">
            <a:normAutofit/>
          </a:bodyPr>
          <a:lstStyle/>
          <a:p>
            <a:pPr marL="0" lvl="0" indent="0" defTabSz="91440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 dirty="0" err="1"/>
              <a:t>Pré-Processamento</a:t>
            </a:r>
            <a:endParaRPr lang="en-US" u="sng" dirty="0"/>
          </a:p>
          <a:p>
            <a:pPr marL="0" lvl="0" indent="0" defTabSz="914400">
              <a:spcBef>
                <a:spcPts val="0"/>
              </a:spcBef>
              <a:spcAft>
                <a:spcPts val="0"/>
              </a:spcAft>
              <a:buNone/>
            </a:pPr>
            <a:endParaRPr lang="en-US" u="sng" dirty="0"/>
          </a:p>
          <a:p>
            <a:pPr marL="285750" indent="-2857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 err="1"/>
              <a:t>Objetivo</a:t>
            </a:r>
            <a:endParaRPr lang="en-US" dirty="0"/>
          </a:p>
          <a:p>
            <a:pPr marL="285750" indent="-2857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 err="1"/>
              <a:t>Processos</a:t>
            </a:r>
            <a:r>
              <a:rPr lang="en-US" dirty="0"/>
              <a:t> </a:t>
            </a:r>
            <a:r>
              <a:rPr lang="en-US" dirty="0" err="1"/>
              <a:t>realizados</a:t>
            </a:r>
            <a:endParaRPr lang="en-US" dirty="0"/>
          </a:p>
          <a:p>
            <a:pPr marL="1085850" lvl="2" indent="-1714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Padronização</a:t>
            </a:r>
            <a:r>
              <a:rPr lang="en-US" sz="1400" dirty="0"/>
              <a:t>               </a:t>
            </a:r>
          </a:p>
          <a:p>
            <a:pPr marL="1085850" lvl="2" indent="-1714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914400" lvl="2" indent="0" defTabSz="914400">
              <a:spcBef>
                <a:spcPts val="1200"/>
              </a:spcBef>
              <a:buNone/>
            </a:pPr>
            <a:endParaRPr lang="en-US" dirty="0"/>
          </a:p>
          <a:p>
            <a:pPr marL="0" indent="0" defTabSz="914400">
              <a:spcBef>
                <a:spcPts val="1200"/>
              </a:spcBef>
              <a:buNone/>
            </a:pPr>
            <a:r>
              <a:rPr lang="en-US" dirty="0" err="1"/>
              <a:t>Todas</a:t>
            </a:r>
            <a:r>
              <a:rPr lang="en-US" dirty="0"/>
              <a:t> as </a:t>
            </a:r>
            <a:r>
              <a:rPr lang="en-US" dirty="0" err="1"/>
              <a:t>análises</a:t>
            </a:r>
            <a:r>
              <a:rPr lang="en-US" dirty="0"/>
              <a:t> </a:t>
            </a:r>
            <a:r>
              <a:rPr lang="en-US" dirty="0" err="1"/>
              <a:t>foram</a:t>
            </a:r>
            <a:r>
              <a:rPr lang="en-US" dirty="0"/>
              <a:t> </a:t>
            </a:r>
            <a:r>
              <a:rPr lang="en-US" dirty="0" err="1"/>
              <a:t>efetuadas</a:t>
            </a:r>
            <a:r>
              <a:rPr lang="en-US" dirty="0"/>
              <a:t> no software R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244200"/>
            <a:ext cx="1715190" cy="29310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3295904"/>
            <a:ext cx="1715190" cy="1522293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44C6069-42C6-718A-6B32-DE142ED2A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654" y="3089564"/>
            <a:ext cx="844107" cy="34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419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C4C66818-CCDC-456D-B9B5-A5D554D30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Google Shape;121;p18"/>
          <p:cNvSpPr txBox="1">
            <a:spLocks noGrp="1"/>
          </p:cNvSpPr>
          <p:nvPr>
            <p:ph type="title"/>
          </p:nvPr>
        </p:nvSpPr>
        <p:spPr>
          <a:xfrm>
            <a:off x="768096" y="438912"/>
            <a:ext cx="3549183" cy="1124712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914400">
              <a:spcBef>
                <a:spcPct val="0"/>
              </a:spcBef>
              <a:spcAft>
                <a:spcPts val="0"/>
              </a:spcAft>
            </a:pPr>
            <a:r>
              <a:rPr lang="en-US" sz="3900" spc="100" dirty="0"/>
              <a:t>MATERIAL E MÉTODOS</a:t>
            </a:r>
          </a:p>
        </p:txBody>
      </p:sp>
      <p:sp>
        <p:nvSpPr>
          <p:cNvPr id="122" name="Google Shape;122;p18"/>
          <p:cNvSpPr txBox="1">
            <a:spLocks noGrp="1"/>
          </p:cNvSpPr>
          <p:nvPr>
            <p:ph type="body" idx="1"/>
          </p:nvPr>
        </p:nvSpPr>
        <p:spPr>
          <a:xfrm>
            <a:off x="768096" y="1714500"/>
            <a:ext cx="3492177" cy="3017520"/>
          </a:xfrm>
          <a:prstGeom prst="rect">
            <a:avLst/>
          </a:prstGeom>
        </p:spPr>
        <p:txBody>
          <a:bodyPr spcFirstLastPara="1" vert="horz" lIns="45720" tIns="45720" rIns="45720" bIns="45720" rtlCol="0" anchorCtr="0">
            <a:normAutofit/>
          </a:bodyPr>
          <a:lstStyle/>
          <a:p>
            <a:pPr marL="0" indent="0" defTabSz="914400">
              <a:spcBef>
                <a:spcPts val="1200"/>
              </a:spcBef>
              <a:buNone/>
            </a:pPr>
            <a:r>
              <a:rPr lang="en-US" u="sng" dirty="0" err="1"/>
              <a:t>Validação</a:t>
            </a:r>
            <a:r>
              <a:rPr lang="en-US" u="sng" dirty="0"/>
              <a:t> </a:t>
            </a:r>
            <a:r>
              <a:rPr lang="en-US" u="sng" dirty="0" err="1"/>
              <a:t>Cruzada</a:t>
            </a:r>
            <a:endParaRPr lang="en-US" u="sng" dirty="0"/>
          </a:p>
          <a:p>
            <a:pPr marL="0" indent="0" defTabSz="914400">
              <a:spcBef>
                <a:spcPts val="1200"/>
              </a:spcBef>
              <a:buNone/>
            </a:pPr>
            <a:endParaRPr lang="en-US" u="sng" dirty="0"/>
          </a:p>
          <a:p>
            <a:pPr marL="285750" indent="-2857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 err="1"/>
              <a:t>Divisão</a:t>
            </a:r>
            <a:r>
              <a:rPr lang="en-US" dirty="0"/>
              <a:t> da base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treino</a:t>
            </a:r>
            <a:r>
              <a:rPr lang="en-US" dirty="0"/>
              <a:t> e teste</a:t>
            </a:r>
          </a:p>
          <a:p>
            <a:pPr marL="285750" indent="-2857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 err="1"/>
              <a:t>Problemas</a:t>
            </a:r>
            <a:r>
              <a:rPr lang="en-US" dirty="0"/>
              <a:t> da </a:t>
            </a:r>
            <a:r>
              <a:rPr lang="en-US" dirty="0" err="1"/>
              <a:t>divisão</a:t>
            </a:r>
            <a:r>
              <a:rPr lang="en-US" dirty="0"/>
              <a:t> de forma simples</a:t>
            </a:r>
          </a:p>
          <a:p>
            <a:pPr marL="285750" indent="-2857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 err="1"/>
              <a:t>Validação</a:t>
            </a:r>
            <a:r>
              <a:rPr lang="en-US" dirty="0"/>
              <a:t> </a:t>
            </a:r>
            <a:r>
              <a:rPr lang="en-US" dirty="0" err="1"/>
              <a:t>Cruzada</a:t>
            </a:r>
            <a:r>
              <a:rPr lang="en-US" dirty="0"/>
              <a:t> K-Fold</a:t>
            </a:r>
          </a:p>
          <a:p>
            <a:pPr marL="1200150" lvl="2" indent="-2857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Funcionamento</a:t>
            </a:r>
            <a:endParaRPr lang="en-US" sz="1400" dirty="0"/>
          </a:p>
          <a:p>
            <a:pPr marL="1200150" lvl="2" indent="-2857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Benefícios</a:t>
            </a:r>
            <a:endParaRPr lang="en-US" sz="1400" dirty="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51CAEDA1-2D9E-4101-B553-8060F59F8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2456" y="0"/>
            <a:ext cx="4579088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D8AF0666-DC61-45FB-A7C3-3666814B1A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3756" y="241298"/>
            <a:ext cx="2949380" cy="27466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 descr="Uma imagem contendo Diagrama&#10;&#10;Descrição gerada automaticamente">
            <a:extLst>
              <a:ext uri="{FF2B5EF4-FFF2-40B4-BE49-F238E27FC236}">
                <a16:creationId xmlns:a16="http://schemas.microsoft.com/office/drawing/2014/main" id="{D815D68B-8D7A-F328-0A86-9DCF09C34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420" y="648304"/>
            <a:ext cx="2702052" cy="18306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3" name="Rectangle 132">
            <a:extLst>
              <a:ext uri="{FF2B5EF4-FFF2-40B4-BE49-F238E27FC236}">
                <a16:creationId xmlns:a16="http://schemas.microsoft.com/office/drawing/2014/main" id="{EF8AA041-5690-47D3-93E9-B8DE194D7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81846" y="241299"/>
            <a:ext cx="1014521" cy="2751406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592E6D62-9EA0-4821-A9F1-919E480D5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3756" y="3118085"/>
            <a:ext cx="1578562" cy="1734211"/>
          </a:xfrm>
          <a:prstGeom prst="rect">
            <a:avLst/>
          </a:prstGeom>
          <a:solidFill>
            <a:schemeClr val="accent2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939F7F10-4ADB-4678-918B-BC1498630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2968" y="3118085"/>
            <a:ext cx="2405032" cy="17342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Tela de computador com texto preto sobre fundo branco&#10;&#10;Descrição gerada automaticamente">
            <a:extLst>
              <a:ext uri="{FF2B5EF4-FFF2-40B4-BE49-F238E27FC236}">
                <a16:creationId xmlns:a16="http://schemas.microsoft.com/office/drawing/2014/main" id="{342922F6-90D1-2555-6EED-339BE9C014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349" y="3437833"/>
            <a:ext cx="2160270" cy="1215151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518D28C-BEF3-FB21-9BA7-52003D07E55D}"/>
              </a:ext>
            </a:extLst>
          </p:cNvPr>
          <p:cNvSpPr txBox="1"/>
          <p:nvPr/>
        </p:nvSpPr>
        <p:spPr>
          <a:xfrm>
            <a:off x="5124614" y="2509129"/>
            <a:ext cx="26285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Figura 4: Validação Cruzada K-</a:t>
            </a:r>
            <a:r>
              <a:rPr lang="pt-BR" sz="900" dirty="0" err="1"/>
              <a:t>Fold</a:t>
            </a:r>
            <a:r>
              <a:rPr lang="pt-BR" sz="900" dirty="0"/>
              <a:t> com K=5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C413655-B2AF-BF72-3B0A-69986BFE5D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9437" y="558800"/>
            <a:ext cx="2813134" cy="19503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4F4AF38-8AAD-4B65-9274-0033CABC4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0D5EC93E-7F9A-2272-86AE-F06B2484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438912"/>
            <a:ext cx="3323844" cy="11247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3300" kern="1200" cap="all" spc="100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Material e métodos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EB8FF38-9730-3044-9AF7-1A2A7640915B}"/>
              </a:ext>
            </a:extLst>
          </p:cNvPr>
          <p:cNvSpPr txBox="1"/>
          <p:nvPr/>
        </p:nvSpPr>
        <p:spPr>
          <a:xfrm>
            <a:off x="768096" y="1714500"/>
            <a:ext cx="3322211" cy="294894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200"/>
              </a:spcBef>
              <a:buClr>
                <a:schemeClr val="accent2"/>
              </a:buClr>
              <a:buNone/>
            </a:pPr>
            <a:r>
              <a:rPr lang="en-US" u="sng" dirty="0"/>
              <a:t>Recursive Feature Elimination (RFE)</a:t>
            </a:r>
          </a:p>
          <a:p>
            <a:pPr marL="0" indent="0" defTabSz="914400">
              <a:lnSpc>
                <a:spcPct val="90000"/>
              </a:lnSpc>
              <a:spcBef>
                <a:spcPts val="1200"/>
              </a:spcBef>
              <a:buClr>
                <a:schemeClr val="accent2"/>
              </a:buClr>
              <a:buNone/>
            </a:pPr>
            <a:endParaRPr lang="en-US" u="sng" dirty="0"/>
          </a:p>
          <a:p>
            <a:pPr marL="285750" indent="-285750" defTabSz="914400">
              <a:lnSpc>
                <a:spcPct val="90000"/>
              </a:lnSpc>
              <a:spcBef>
                <a:spcPts val="12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n-US" dirty="0" err="1"/>
              <a:t>Seleção</a:t>
            </a:r>
            <a:r>
              <a:rPr lang="en-US" dirty="0"/>
              <a:t> de </a:t>
            </a:r>
            <a:r>
              <a:rPr lang="en-US" dirty="0" err="1"/>
              <a:t>variáveis</a:t>
            </a:r>
            <a:endParaRPr lang="en-US" dirty="0"/>
          </a:p>
          <a:p>
            <a:pPr marL="1200150" lvl="2" indent="-285750" defTabSz="914400">
              <a:lnSpc>
                <a:spcPct val="90000"/>
              </a:lnSpc>
              <a:spcBef>
                <a:spcPts val="12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400" dirty="0" err="1"/>
              <a:t>Importância</a:t>
            </a:r>
            <a:r>
              <a:rPr lang="en-US" sz="1400" dirty="0"/>
              <a:t> das </a:t>
            </a:r>
            <a:r>
              <a:rPr lang="en-US" sz="1400" dirty="0" err="1"/>
              <a:t>Variáveis</a:t>
            </a:r>
            <a:endParaRPr lang="en-US" sz="1400" dirty="0"/>
          </a:p>
          <a:p>
            <a:pPr marL="1200150" lvl="2" indent="-285750" defTabSz="914400">
              <a:lnSpc>
                <a:spcPct val="90000"/>
              </a:lnSpc>
              <a:spcBef>
                <a:spcPts val="12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400" dirty="0" err="1"/>
              <a:t>Utilização</a:t>
            </a:r>
            <a:r>
              <a:rPr lang="en-US" sz="1400" dirty="0"/>
              <a:t> de </a:t>
            </a:r>
            <a:r>
              <a:rPr lang="en-US" sz="1400" dirty="0" err="1"/>
              <a:t>Validação</a:t>
            </a:r>
            <a:r>
              <a:rPr lang="en-US" sz="1400" dirty="0"/>
              <a:t> </a:t>
            </a:r>
            <a:r>
              <a:rPr lang="en-US" sz="1400" dirty="0" err="1"/>
              <a:t>Cruzada</a:t>
            </a:r>
            <a:endParaRPr lang="en-US" sz="1400" dirty="0"/>
          </a:p>
          <a:p>
            <a:pPr marL="1200150" lvl="2" indent="-285750" defTabSz="914400">
              <a:lnSpc>
                <a:spcPct val="90000"/>
              </a:lnSpc>
              <a:spcBef>
                <a:spcPts val="12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400" dirty="0" err="1"/>
              <a:t>Estimação</a:t>
            </a:r>
            <a:r>
              <a:rPr lang="en-US" sz="1400" dirty="0"/>
              <a:t> de </a:t>
            </a:r>
            <a:r>
              <a:rPr lang="en-US" sz="1400" dirty="0" err="1"/>
              <a:t>modelos</a:t>
            </a:r>
            <a:endParaRPr lang="en-US" sz="1400" dirty="0"/>
          </a:p>
          <a:p>
            <a:pPr defTabSz="914400">
              <a:lnSpc>
                <a:spcPct val="90000"/>
              </a:lnSpc>
              <a:spcBef>
                <a:spcPts val="1200"/>
              </a:spcBef>
              <a:buClr>
                <a:schemeClr val="accent2"/>
              </a:buClr>
            </a:pPr>
            <a:endParaRPr lang="en-US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6371798-3ED3-88C6-C073-16B30D8B1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52099"/>
            <a:ext cx="4091940" cy="2639301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325984C-671A-0787-AF27-CEB5B8D5BA1A}"/>
              </a:ext>
            </a:extLst>
          </p:cNvPr>
          <p:cNvSpPr txBox="1"/>
          <p:nvPr/>
        </p:nvSpPr>
        <p:spPr>
          <a:xfrm>
            <a:off x="5540249" y="3832238"/>
            <a:ext cx="27248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Figura 5: Exemplo do processo de eliminação recursiva</a:t>
            </a:r>
          </a:p>
        </p:txBody>
      </p:sp>
    </p:spTree>
    <p:extLst>
      <p:ext uri="{BB962C8B-B14F-4D97-AF65-F5344CB8AC3E}">
        <p14:creationId xmlns:p14="http://schemas.microsoft.com/office/powerpoint/2010/main" val="215919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18">
            <a:extLst>
              <a:ext uri="{FF2B5EF4-FFF2-40B4-BE49-F238E27FC236}">
                <a16:creationId xmlns:a16="http://schemas.microsoft.com/office/drawing/2014/main" id="{70BED20A-5CAE-4144-B33B-4FDC34671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CA82BE26-D6E5-4551-B250-913FE9928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438912"/>
            <a:ext cx="4426545" cy="11247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4600" spc="100" dirty="0"/>
              <a:t>Material e </a:t>
            </a:r>
            <a:r>
              <a:rPr lang="en-US" sz="4600" spc="100" dirty="0" err="1"/>
              <a:t>métodos</a:t>
            </a:r>
            <a:endParaRPr lang="en-US" sz="4600" spc="100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835829-B61F-480D-B678-385EB2244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096" y="1528907"/>
            <a:ext cx="4426545" cy="2948940"/>
          </a:xfrm>
        </p:spPr>
        <p:txBody>
          <a:bodyPr vert="horz" lIns="45720" tIns="45720" rIns="45720" bIns="45720" rtlCol="0">
            <a:noAutofit/>
          </a:bodyPr>
          <a:lstStyle/>
          <a:p>
            <a:pPr marL="0" indent="0" defTabSz="914400">
              <a:spcBef>
                <a:spcPts val="1200"/>
              </a:spcBef>
              <a:buNone/>
            </a:pPr>
            <a:r>
              <a:rPr lang="en-US" sz="1800" u="sng" dirty="0" err="1"/>
              <a:t>Metodologia</a:t>
            </a:r>
            <a:endParaRPr lang="en-US" sz="1800" dirty="0"/>
          </a:p>
          <a:p>
            <a:pPr marL="171450" lvl="0" indent="-171450" defTabSz="91440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00" dirty="0"/>
              <a:t> </a:t>
            </a:r>
            <a:r>
              <a:rPr lang="en-US" sz="1400" dirty="0" err="1"/>
              <a:t>Aprendizado</a:t>
            </a:r>
            <a:r>
              <a:rPr lang="en-US" sz="1400" dirty="0"/>
              <a:t> de </a:t>
            </a:r>
            <a:r>
              <a:rPr lang="en-US" sz="1400" dirty="0" err="1"/>
              <a:t>Máquinas</a:t>
            </a:r>
            <a:endParaRPr lang="en-US" sz="1400" dirty="0"/>
          </a:p>
          <a:p>
            <a:pPr marL="1085850" lvl="2" indent="-1714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Aprendizagem</a:t>
            </a:r>
            <a:r>
              <a:rPr lang="en-US" sz="1400" dirty="0"/>
              <a:t> </a:t>
            </a:r>
            <a:r>
              <a:rPr lang="en-US" sz="1400" dirty="0" err="1"/>
              <a:t>Supervisionada</a:t>
            </a:r>
            <a:r>
              <a:rPr lang="en-US" sz="1400" dirty="0"/>
              <a:t> x </a:t>
            </a:r>
            <a:r>
              <a:rPr lang="en-US" sz="1400" dirty="0" err="1"/>
              <a:t>Não</a:t>
            </a:r>
            <a:r>
              <a:rPr lang="en-US" sz="1400" dirty="0"/>
              <a:t> </a:t>
            </a:r>
            <a:r>
              <a:rPr lang="en-US" sz="1400" dirty="0" err="1"/>
              <a:t>Supervisionada</a:t>
            </a:r>
            <a:endParaRPr lang="en-US" sz="1400" dirty="0"/>
          </a:p>
          <a:p>
            <a:pPr marL="1085850" lvl="2" indent="-1714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Regressão</a:t>
            </a:r>
            <a:r>
              <a:rPr lang="en-US" sz="1400" dirty="0"/>
              <a:t> x </a:t>
            </a:r>
            <a:r>
              <a:rPr lang="en-US" sz="1400" dirty="0" err="1"/>
              <a:t>Classificação</a:t>
            </a:r>
            <a:endParaRPr lang="en-US" sz="1400" dirty="0"/>
          </a:p>
          <a:p>
            <a:pPr marL="171450" lvl="0" indent="-171450" defTabSz="91440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00" dirty="0"/>
              <a:t> </a:t>
            </a:r>
            <a:r>
              <a:rPr lang="en-US" sz="1400" dirty="0" err="1"/>
              <a:t>Métodos</a:t>
            </a:r>
            <a:r>
              <a:rPr lang="en-US" sz="1400" dirty="0"/>
              <a:t> </a:t>
            </a:r>
            <a:r>
              <a:rPr lang="en-US" sz="1400" dirty="0" err="1"/>
              <a:t>Utilizados</a:t>
            </a:r>
            <a:endParaRPr lang="en-US" sz="1400" dirty="0"/>
          </a:p>
          <a:p>
            <a:pPr marL="1085850" lvl="2" indent="-1714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Regressão</a:t>
            </a:r>
            <a:r>
              <a:rPr lang="en-US" sz="1400" dirty="0"/>
              <a:t> </a:t>
            </a:r>
            <a:r>
              <a:rPr lang="en-US" sz="1400" dirty="0" err="1"/>
              <a:t>Logística</a:t>
            </a:r>
            <a:endParaRPr lang="en-US" sz="1400" dirty="0"/>
          </a:p>
          <a:p>
            <a:pPr marL="1085850" lvl="2" indent="-1714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Redes </a:t>
            </a:r>
            <a:r>
              <a:rPr lang="en-US" sz="1400" dirty="0" err="1"/>
              <a:t>Neurais</a:t>
            </a:r>
            <a:r>
              <a:rPr lang="en-US" sz="1400" dirty="0"/>
              <a:t> </a:t>
            </a:r>
            <a:r>
              <a:rPr lang="en-US" sz="1400" dirty="0" err="1"/>
              <a:t>Artificiais</a:t>
            </a:r>
            <a:endParaRPr lang="en-US" sz="1400" dirty="0"/>
          </a:p>
          <a:p>
            <a:pPr marL="1085850" lvl="2" indent="-1714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SVM </a:t>
            </a:r>
          </a:p>
          <a:p>
            <a:pPr marL="1085850" lvl="2" indent="-1714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XGBoost</a:t>
            </a:r>
            <a:endParaRPr lang="en-US" sz="1400" dirty="0"/>
          </a:p>
        </p:txBody>
      </p:sp>
      <p:pic>
        <p:nvPicPr>
          <p:cNvPr id="9" name="Imagem 8" descr="Brinquedo de lego&#10;&#10;Descrição gerada automaticamente">
            <a:extLst>
              <a:ext uri="{FF2B5EF4-FFF2-40B4-BE49-F238E27FC236}">
                <a16:creationId xmlns:a16="http://schemas.microsoft.com/office/drawing/2014/main" id="{6202FA92-0B4F-D3D8-BD7B-34D00EF78C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926" r="7218" b="-3"/>
          <a:stretch/>
        </p:blipFill>
        <p:spPr>
          <a:xfrm>
            <a:off x="5664200" y="480060"/>
            <a:ext cx="2999740" cy="2457957"/>
          </a:xfrm>
          <a:prstGeom prst="rect">
            <a:avLst/>
          </a:prstGeom>
        </p:spPr>
      </p:pic>
      <p:pic>
        <p:nvPicPr>
          <p:cNvPr id="7" name="Imagem 6" descr="Diagrama&#10;&#10;Descrição gerada automaticamente">
            <a:extLst>
              <a:ext uri="{FF2B5EF4-FFF2-40B4-BE49-F238E27FC236}">
                <a16:creationId xmlns:a16="http://schemas.microsoft.com/office/drawing/2014/main" id="{50491E06-2B03-9BE9-08C9-EC516A845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200" y="2984313"/>
            <a:ext cx="2999740" cy="16791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A0FEF24-91C8-8540-C255-DC4DF3A190EE}"/>
              </a:ext>
            </a:extLst>
          </p:cNvPr>
          <p:cNvSpPr txBox="1"/>
          <p:nvPr/>
        </p:nvSpPr>
        <p:spPr>
          <a:xfrm>
            <a:off x="5664200" y="4663440"/>
            <a:ext cx="31378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Figura 6: Aprendizagem Supervisionada x Não-Supervisionada</a:t>
            </a:r>
          </a:p>
        </p:txBody>
      </p:sp>
    </p:spTree>
    <p:extLst>
      <p:ext uri="{BB962C8B-B14F-4D97-AF65-F5344CB8AC3E}">
        <p14:creationId xmlns:p14="http://schemas.microsoft.com/office/powerpoint/2010/main" val="1997550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>
            <a:spLocks noGrp="1"/>
          </p:cNvSpPr>
          <p:nvPr>
            <p:ph type="title"/>
          </p:nvPr>
        </p:nvSpPr>
        <p:spPr>
          <a:xfrm>
            <a:off x="727650" y="5758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MATERIAL E MÉTODOS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Google Shape;132;p19"/>
          <p:cNvSpPr txBox="1">
            <a:spLocks noGrp="1"/>
          </p:cNvSpPr>
          <p:nvPr>
            <p:ph type="body" idx="1"/>
          </p:nvPr>
        </p:nvSpPr>
        <p:spPr>
          <a:xfrm>
            <a:off x="727650" y="1202408"/>
            <a:ext cx="7762146" cy="36149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lang="pt-BR" sz="16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lang="pt-BR" sz="16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dirty="0">
              <a:solidFill>
                <a:srgbClr val="000000"/>
              </a:solidFill>
            </a:endParaRP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7CD5C480-E25D-79F1-ACB7-46537D510D36}"/>
              </a:ext>
            </a:extLst>
          </p:cNvPr>
          <p:cNvSpPr txBox="1">
            <a:spLocks/>
          </p:cNvSpPr>
          <p:nvPr/>
        </p:nvSpPr>
        <p:spPr>
          <a:xfrm>
            <a:off x="768096" y="1202408"/>
            <a:ext cx="4792645" cy="3756168"/>
          </a:xfrm>
          <a:prstGeom prst="rect">
            <a:avLst/>
          </a:prstGeom>
        </p:spPr>
        <p:txBody>
          <a:bodyPr spcFirstLastPara="1" vert="horz" wrap="square" lIns="45720" tIns="45720" rIns="45720" bIns="45720" rtlCol="0" anchor="t" anchorCtr="0">
            <a:noAutofit/>
          </a:bodyPr>
          <a:lstStyle>
            <a:lvl1pPr marL="457200" lvl="0" indent="-3111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Tw Cen MT" panose="020B0602020104020603" pitchFamily="34" charset="0"/>
              <a:buChar char="●"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●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●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spcBef>
                <a:spcPts val="1200"/>
              </a:spcBef>
              <a:buFont typeface="Tw Cen MT" panose="020B0602020104020603" pitchFamily="34" charset="0"/>
              <a:buNone/>
            </a:pPr>
            <a:r>
              <a:rPr lang="en-US" sz="1800" u="sng" dirty="0" err="1"/>
              <a:t>Regressão</a:t>
            </a:r>
            <a:r>
              <a:rPr lang="en-US" sz="1800" u="sng" dirty="0"/>
              <a:t> </a:t>
            </a:r>
            <a:r>
              <a:rPr lang="en-US" sz="1800" u="sng" dirty="0" err="1"/>
              <a:t>Logística</a:t>
            </a:r>
            <a:endParaRPr lang="en-US" sz="100" dirty="0"/>
          </a:p>
          <a:p>
            <a:pPr marL="171450" indent="-1714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300" dirty="0"/>
              <a:t> </a:t>
            </a:r>
            <a:r>
              <a:rPr lang="en-US" sz="1600" dirty="0" err="1"/>
              <a:t>Função</a:t>
            </a:r>
            <a:r>
              <a:rPr lang="en-US" sz="1600" dirty="0"/>
              <a:t> </a:t>
            </a:r>
            <a:r>
              <a:rPr lang="en-US" sz="1600" dirty="0" err="1"/>
              <a:t>Logística</a:t>
            </a:r>
            <a:endParaRPr lang="en-US" sz="1600" dirty="0"/>
          </a:p>
          <a:p>
            <a:pPr marL="171450" indent="-1714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0" indent="0" defTabSz="914400">
              <a:spcBef>
                <a:spcPts val="1200"/>
              </a:spcBef>
              <a:buNone/>
            </a:pPr>
            <a:r>
              <a:rPr lang="en-US" sz="1400" dirty="0" err="1"/>
              <a:t>Onde</a:t>
            </a:r>
            <a:r>
              <a:rPr lang="en-US" sz="1400" dirty="0"/>
              <a:t>:</a:t>
            </a:r>
          </a:p>
          <a:p>
            <a:pPr marL="171450" indent="-1714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171450" indent="-1714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171450" indent="-1714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600" dirty="0"/>
              <a:t> </a:t>
            </a:r>
            <a:r>
              <a:rPr lang="en-US" sz="1600" dirty="0" err="1"/>
              <a:t>Função</a:t>
            </a:r>
            <a:r>
              <a:rPr lang="en-US" sz="1600" dirty="0"/>
              <a:t> de </a:t>
            </a:r>
            <a:r>
              <a:rPr lang="en-US" sz="1600" dirty="0" err="1"/>
              <a:t>Verossimilhança</a:t>
            </a:r>
            <a:endParaRPr lang="en-US" sz="16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D8ED2E6-A669-5BB5-3B59-0E02C4D8091C}"/>
              </a:ext>
            </a:extLst>
          </p:cNvPr>
          <p:cNvSpPr txBox="1"/>
          <p:nvPr/>
        </p:nvSpPr>
        <p:spPr>
          <a:xfrm>
            <a:off x="5791949" y="3968891"/>
            <a:ext cx="29364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Figura 7: Ajuste dos parâmetros em busca da melhor curva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1C06CB8-BFAA-D302-7CDE-22159E4D7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144" y="2186499"/>
            <a:ext cx="2509139" cy="90033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187E0D5-512D-E917-FF76-170E49644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0739" y="1338933"/>
            <a:ext cx="3285460" cy="260884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>
            <a:spLocks noGrp="1"/>
          </p:cNvSpPr>
          <p:nvPr>
            <p:ph type="title"/>
          </p:nvPr>
        </p:nvSpPr>
        <p:spPr>
          <a:xfrm>
            <a:off x="727650" y="5758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MATERIAL E MÉTODOS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7CD5C480-E25D-79F1-ACB7-46537D510D36}"/>
              </a:ext>
            </a:extLst>
          </p:cNvPr>
          <p:cNvSpPr txBox="1">
            <a:spLocks/>
          </p:cNvSpPr>
          <p:nvPr/>
        </p:nvSpPr>
        <p:spPr>
          <a:xfrm>
            <a:off x="768097" y="1202408"/>
            <a:ext cx="2688782" cy="3756168"/>
          </a:xfrm>
          <a:prstGeom prst="rect">
            <a:avLst/>
          </a:prstGeom>
        </p:spPr>
        <p:txBody>
          <a:bodyPr spcFirstLastPara="1" vert="horz" wrap="square" lIns="45720" tIns="45720" rIns="45720" bIns="45720" rtlCol="0" anchor="t" anchorCtr="0">
            <a:noAutofit/>
          </a:bodyPr>
          <a:lstStyle>
            <a:lvl1pPr marL="457200" lvl="0" indent="-3111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Tw Cen MT" panose="020B0602020104020603" pitchFamily="34" charset="0"/>
              <a:buChar char="●"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●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●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spcBef>
                <a:spcPts val="1200"/>
              </a:spcBef>
              <a:buFont typeface="Tw Cen MT" panose="020B0602020104020603" pitchFamily="34" charset="0"/>
              <a:buNone/>
            </a:pPr>
            <a:r>
              <a:rPr lang="en-US" sz="1800" u="sng" dirty="0"/>
              <a:t>Redes </a:t>
            </a:r>
            <a:r>
              <a:rPr lang="en-US" sz="1800" u="sng" dirty="0" err="1"/>
              <a:t>Neurais</a:t>
            </a:r>
            <a:r>
              <a:rPr lang="en-US" sz="1800" u="sng" dirty="0"/>
              <a:t> </a:t>
            </a:r>
            <a:r>
              <a:rPr lang="en-US" sz="1800" u="sng" dirty="0" err="1"/>
              <a:t>Artificiais</a:t>
            </a:r>
            <a:endParaRPr lang="en-US" sz="1800" u="sng" dirty="0"/>
          </a:p>
          <a:p>
            <a:pPr marL="0" indent="0" defTabSz="914400">
              <a:spcBef>
                <a:spcPts val="1200"/>
              </a:spcBef>
              <a:buFont typeface="Tw Cen MT" panose="020B0602020104020603" pitchFamily="34" charset="0"/>
              <a:buNone/>
            </a:pPr>
            <a:endParaRPr lang="en-US" sz="100" dirty="0"/>
          </a:p>
          <a:p>
            <a:pPr marL="171450" indent="-1714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300" dirty="0"/>
              <a:t> </a:t>
            </a:r>
            <a:r>
              <a:rPr lang="en-US" sz="1600" dirty="0" err="1"/>
              <a:t>Estrutura</a:t>
            </a:r>
            <a:endParaRPr lang="en-US" sz="1600" dirty="0"/>
          </a:p>
          <a:p>
            <a:pPr marL="171450" indent="-1714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0" indent="0" defTabSz="914400">
              <a:spcBef>
                <a:spcPts val="1200"/>
              </a:spcBef>
              <a:buNone/>
            </a:pPr>
            <a:endParaRPr lang="en-US" sz="1600" dirty="0"/>
          </a:p>
          <a:p>
            <a:pPr marL="0" indent="0" defTabSz="914400">
              <a:spcBef>
                <a:spcPts val="1200"/>
              </a:spcBef>
              <a:buNone/>
            </a:pPr>
            <a:endParaRPr lang="en-US" sz="1600" dirty="0"/>
          </a:p>
          <a:p>
            <a:pPr marL="171450" indent="-1714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endParaRPr lang="en-US" sz="1600" dirty="0"/>
          </a:p>
        </p:txBody>
      </p:sp>
      <p:pic>
        <p:nvPicPr>
          <p:cNvPr id="3" name="Imagem 2" descr="Diagrama&#10;&#10;Descrição gerada automaticamente">
            <a:extLst>
              <a:ext uri="{FF2B5EF4-FFF2-40B4-BE49-F238E27FC236}">
                <a16:creationId xmlns:a16="http://schemas.microsoft.com/office/drawing/2014/main" id="{CE2EC0F7-6BCA-91AE-1268-3EBE1047C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7" y="2571750"/>
            <a:ext cx="3159956" cy="17965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agem 6" descr="Diagrama, Desenho técnico&#10;&#10;Descrição gerada automaticamente">
            <a:extLst>
              <a:ext uri="{FF2B5EF4-FFF2-40B4-BE49-F238E27FC236}">
                <a16:creationId xmlns:a16="http://schemas.microsoft.com/office/drawing/2014/main" id="{F13CC3E3-6BCC-1409-53B0-1407BD5095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1144" y="2571750"/>
            <a:ext cx="3072748" cy="18323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Espaço Reservado para Texto 2">
            <a:extLst>
              <a:ext uri="{FF2B5EF4-FFF2-40B4-BE49-F238E27FC236}">
                <a16:creationId xmlns:a16="http://schemas.microsoft.com/office/drawing/2014/main" id="{7D0EFC91-5311-64CB-7AD7-D78CD70F1C56}"/>
              </a:ext>
            </a:extLst>
          </p:cNvPr>
          <p:cNvSpPr txBox="1">
            <a:spLocks/>
          </p:cNvSpPr>
          <p:nvPr/>
        </p:nvSpPr>
        <p:spPr>
          <a:xfrm>
            <a:off x="5132498" y="1423259"/>
            <a:ext cx="2688782" cy="1338147"/>
          </a:xfrm>
          <a:prstGeom prst="rect">
            <a:avLst/>
          </a:prstGeom>
        </p:spPr>
        <p:txBody>
          <a:bodyPr spcFirstLastPara="1" vert="horz" wrap="square" lIns="45720" tIns="45720" rIns="45720" bIns="45720" rtlCol="0" anchor="t" anchorCtr="0">
            <a:noAutofit/>
          </a:bodyPr>
          <a:lstStyle>
            <a:lvl1pPr marL="457200" lvl="0" indent="-3111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Tw Cen MT" panose="020B0602020104020603" pitchFamily="34" charset="0"/>
              <a:buChar char="●"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●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●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spcBef>
                <a:spcPts val="1200"/>
              </a:spcBef>
              <a:buNone/>
            </a:pPr>
            <a:endParaRPr lang="en-US" sz="1600" dirty="0"/>
          </a:p>
          <a:p>
            <a:pPr marL="171450" indent="-1714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600" dirty="0"/>
              <a:t> </a:t>
            </a:r>
            <a:r>
              <a:rPr lang="en-US" sz="1600" dirty="0" err="1"/>
              <a:t>Funcionamento</a:t>
            </a:r>
            <a:endParaRPr lang="en-US" sz="16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3A1C8C1-3A11-6818-57F4-FE456CBF4174}"/>
              </a:ext>
            </a:extLst>
          </p:cNvPr>
          <p:cNvSpPr txBox="1"/>
          <p:nvPr/>
        </p:nvSpPr>
        <p:spPr>
          <a:xfrm>
            <a:off x="1066567" y="4404132"/>
            <a:ext cx="30554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Figura 8: Estrutura de uma Rede Neural Artificial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14162A1-8874-A846-A0C2-4BAC62B3A87C}"/>
              </a:ext>
            </a:extLst>
          </p:cNvPr>
          <p:cNvSpPr txBox="1"/>
          <p:nvPr/>
        </p:nvSpPr>
        <p:spPr>
          <a:xfrm>
            <a:off x="4959133" y="4404132"/>
            <a:ext cx="34167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Figura 9: Componentes de uma Rede Neural Artificial e suas funções</a:t>
            </a:r>
          </a:p>
        </p:txBody>
      </p:sp>
    </p:spTree>
    <p:extLst>
      <p:ext uri="{BB962C8B-B14F-4D97-AF65-F5344CB8AC3E}">
        <p14:creationId xmlns:p14="http://schemas.microsoft.com/office/powerpoint/2010/main" val="1204974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C4C66818-CCDC-456D-B9B5-A5D554D30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Google Shape;131;p19"/>
          <p:cNvSpPr txBox="1">
            <a:spLocks noGrp="1"/>
          </p:cNvSpPr>
          <p:nvPr>
            <p:ph type="title"/>
          </p:nvPr>
        </p:nvSpPr>
        <p:spPr>
          <a:xfrm>
            <a:off x="768096" y="438912"/>
            <a:ext cx="3549183" cy="1124712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914400">
              <a:spcBef>
                <a:spcPct val="0"/>
              </a:spcBef>
              <a:spcAft>
                <a:spcPts val="0"/>
              </a:spcAft>
            </a:pPr>
            <a:r>
              <a:rPr lang="en-US" sz="3900" spc="100"/>
              <a:t>MATERIAL E MÉTODOS</a:t>
            </a:r>
          </a:p>
          <a:p>
            <a:pPr marL="0" lvl="0" indent="0" defTabSz="914400">
              <a:spcBef>
                <a:spcPct val="0"/>
              </a:spcBef>
              <a:spcAft>
                <a:spcPts val="0"/>
              </a:spcAft>
            </a:pPr>
            <a:endParaRPr lang="en-US" sz="3900" spc="100"/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7CD5C480-E25D-79F1-ACB7-46537D510D36}"/>
              </a:ext>
            </a:extLst>
          </p:cNvPr>
          <p:cNvSpPr txBox="1">
            <a:spLocks/>
          </p:cNvSpPr>
          <p:nvPr/>
        </p:nvSpPr>
        <p:spPr>
          <a:xfrm>
            <a:off x="768096" y="1714500"/>
            <a:ext cx="3492177" cy="3017520"/>
          </a:xfrm>
          <a:prstGeom prst="rect">
            <a:avLst/>
          </a:prstGeom>
        </p:spPr>
        <p:txBody>
          <a:bodyPr spcFirstLastPara="1" vert="horz" lIns="45720" tIns="45720" rIns="45720" bIns="45720" rtlCol="0" anchorCtr="0">
            <a:normAutofit/>
          </a:bodyPr>
          <a:lstStyle>
            <a:lvl1pPr marL="457200" lvl="0" indent="-3111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Tw Cen MT" panose="020B0602020104020603" pitchFamily="34" charset="0"/>
              <a:buChar char="●"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●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●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spcBef>
                <a:spcPts val="1200"/>
              </a:spcBef>
              <a:buFont typeface="Tw Cen MT" panose="020B0602020104020603" pitchFamily="34" charset="0"/>
              <a:buNone/>
            </a:pPr>
            <a:r>
              <a:rPr lang="en-US" sz="1800" u="sng" dirty="0"/>
              <a:t>SVM (</a:t>
            </a:r>
            <a:r>
              <a:rPr lang="en-US" sz="1800" i="1" u="sng" dirty="0"/>
              <a:t>Support Vector Machine</a:t>
            </a:r>
            <a:r>
              <a:rPr lang="en-US" sz="1800" u="sng" dirty="0"/>
              <a:t>)</a:t>
            </a:r>
          </a:p>
          <a:p>
            <a:pPr marL="0" indent="0" defTabSz="914400">
              <a:spcBef>
                <a:spcPts val="1200"/>
              </a:spcBef>
              <a:buFont typeface="Tw Cen MT" panose="020B0602020104020603" pitchFamily="34" charset="0"/>
              <a:buNone/>
            </a:pPr>
            <a:endParaRPr lang="en-US" dirty="0"/>
          </a:p>
          <a:p>
            <a:pPr marL="171450" indent="-1714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Busca</a:t>
            </a:r>
            <a:r>
              <a:rPr lang="en-US" dirty="0"/>
              <a:t> </a:t>
            </a:r>
            <a:r>
              <a:rPr lang="en-US" dirty="0" err="1"/>
              <a:t>pelo</a:t>
            </a:r>
            <a:r>
              <a:rPr lang="en-US" dirty="0"/>
              <a:t> </a:t>
            </a:r>
            <a:r>
              <a:rPr lang="en-US" dirty="0" err="1"/>
              <a:t>Hiperplano</a:t>
            </a:r>
            <a:endParaRPr lang="en-US" dirty="0"/>
          </a:p>
          <a:p>
            <a:pPr marL="171450" indent="-1714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endParaRPr lang="en-US" dirty="0"/>
          </a:p>
          <a:p>
            <a:pPr marL="171450" indent="-1714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/>
              <a:t> SVM Linear x SVM </a:t>
            </a:r>
            <a:r>
              <a:rPr lang="en-US" dirty="0" err="1"/>
              <a:t>Não</a:t>
            </a:r>
            <a:r>
              <a:rPr lang="en-US" dirty="0"/>
              <a:t>-Linear</a:t>
            </a:r>
          </a:p>
          <a:p>
            <a:pPr marL="171450" indent="-1714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endParaRPr lang="en-US" dirty="0"/>
          </a:p>
          <a:p>
            <a:pPr marL="171450" indent="-1714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Classificação</a:t>
            </a:r>
            <a:r>
              <a:rPr lang="en-US" dirty="0"/>
              <a:t> </a:t>
            </a:r>
            <a:r>
              <a:rPr lang="en-US" dirty="0" err="1"/>
              <a:t>Multiclasse</a:t>
            </a:r>
            <a:endParaRPr lang="en-US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51CAEDA1-2D9E-4101-B553-8060F59F8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2456" y="0"/>
            <a:ext cx="4579088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8AF0666-DC61-45FB-A7C3-3666814B1A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3756" y="241298"/>
            <a:ext cx="2949380" cy="27466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F8AA041-5690-47D3-93E9-B8DE194D7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81846" y="241299"/>
            <a:ext cx="1014521" cy="2751406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592E6D62-9EA0-4821-A9F1-919E480D5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3756" y="3118085"/>
            <a:ext cx="1578562" cy="1734211"/>
          </a:xfrm>
          <a:prstGeom prst="rect">
            <a:avLst/>
          </a:prstGeom>
          <a:solidFill>
            <a:schemeClr val="accent2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939F7F10-4ADB-4678-918B-BC1498630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2968" y="3118085"/>
            <a:ext cx="2405032" cy="17342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m 7" descr="Gráfico, Gráfico de dispersão&#10;&#10;Descrição gerada automaticamente">
            <a:extLst>
              <a:ext uri="{FF2B5EF4-FFF2-40B4-BE49-F238E27FC236}">
                <a16:creationId xmlns:a16="http://schemas.microsoft.com/office/drawing/2014/main" id="{271BC52A-D676-FC85-79D4-AFC204F80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349" y="3323063"/>
            <a:ext cx="2160270" cy="11968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7BB6F5D-671E-884E-74EF-D76F28BFAFB5}"/>
              </a:ext>
            </a:extLst>
          </p:cNvPr>
          <p:cNvSpPr txBox="1"/>
          <p:nvPr/>
        </p:nvSpPr>
        <p:spPr>
          <a:xfrm>
            <a:off x="5275077" y="2723295"/>
            <a:ext cx="23045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Figura 10: </a:t>
            </a:r>
            <a:r>
              <a:rPr lang="pt-BR" sz="900" dirty="0" err="1"/>
              <a:t>Funcionanento</a:t>
            </a:r>
            <a:r>
              <a:rPr lang="pt-BR" sz="900" dirty="0"/>
              <a:t> de um SVM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C7E7C92-9CB5-7AC1-6876-1AC8A8861CC3}"/>
              </a:ext>
            </a:extLst>
          </p:cNvPr>
          <p:cNvSpPr txBox="1"/>
          <p:nvPr/>
        </p:nvSpPr>
        <p:spPr>
          <a:xfrm>
            <a:off x="6427370" y="4494107"/>
            <a:ext cx="26983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Figura11: Transformação Linear em um modelo SVM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A4B42AB-AFC3-137F-7B47-FE603B2F9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806" y="291204"/>
            <a:ext cx="2759030" cy="243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449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C4C66818-CCDC-456D-B9B5-A5D554D30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Google Shape;131;p19"/>
          <p:cNvSpPr txBox="1">
            <a:spLocks noGrp="1"/>
          </p:cNvSpPr>
          <p:nvPr>
            <p:ph type="title"/>
          </p:nvPr>
        </p:nvSpPr>
        <p:spPr>
          <a:xfrm>
            <a:off x="768096" y="438912"/>
            <a:ext cx="4550113" cy="1124712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914400">
              <a:spcBef>
                <a:spcPct val="0"/>
              </a:spcBef>
              <a:spcAft>
                <a:spcPts val="0"/>
              </a:spcAft>
            </a:pPr>
            <a:r>
              <a:rPr lang="en-US" sz="5000" spc="100" dirty="0"/>
              <a:t>MATERIAL E MÉTODOS</a:t>
            </a:r>
          </a:p>
          <a:p>
            <a:pPr marL="0" lvl="0" indent="0" defTabSz="914400">
              <a:spcBef>
                <a:spcPct val="0"/>
              </a:spcBef>
              <a:spcAft>
                <a:spcPts val="0"/>
              </a:spcAft>
            </a:pPr>
            <a:endParaRPr lang="en-US" sz="5000" spc="100" dirty="0"/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7CD5C480-E25D-79F1-ACB7-46537D510D36}"/>
              </a:ext>
            </a:extLst>
          </p:cNvPr>
          <p:cNvSpPr txBox="1">
            <a:spLocks/>
          </p:cNvSpPr>
          <p:nvPr/>
        </p:nvSpPr>
        <p:spPr>
          <a:xfrm>
            <a:off x="768095" y="1586230"/>
            <a:ext cx="4550113" cy="3017520"/>
          </a:xfrm>
          <a:prstGeom prst="rect">
            <a:avLst/>
          </a:prstGeom>
        </p:spPr>
        <p:txBody>
          <a:bodyPr spcFirstLastPara="1" vert="horz" lIns="45720" tIns="45720" rIns="45720" bIns="45720" rtlCol="0" anchorCtr="0">
            <a:normAutofit fontScale="92500" lnSpcReduction="20000"/>
          </a:bodyPr>
          <a:lstStyle>
            <a:lvl1pPr marL="457200" lvl="0" indent="-3111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Tw Cen MT" panose="020B0602020104020603" pitchFamily="34" charset="0"/>
              <a:buChar char="●"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●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●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spcBef>
                <a:spcPts val="1200"/>
              </a:spcBef>
              <a:buFont typeface="Tw Cen MT" panose="020B0602020104020603" pitchFamily="34" charset="0"/>
              <a:buNone/>
            </a:pPr>
            <a:r>
              <a:rPr lang="en-US" sz="1900" u="sng" dirty="0" err="1"/>
              <a:t>XGBoost</a:t>
            </a:r>
            <a:endParaRPr lang="en-US" sz="1900" u="sng" dirty="0"/>
          </a:p>
          <a:p>
            <a:pPr marL="0" indent="0" defTabSz="914400">
              <a:spcBef>
                <a:spcPts val="1200"/>
              </a:spcBef>
              <a:buFont typeface="Tw Cen MT" panose="020B0602020104020603" pitchFamily="34" charset="0"/>
              <a:buNone/>
            </a:pPr>
            <a:endParaRPr lang="en-US" sz="1500" dirty="0"/>
          </a:p>
          <a:p>
            <a:pPr marL="171450" indent="-1714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500" dirty="0"/>
              <a:t> </a:t>
            </a:r>
            <a:r>
              <a:rPr lang="en-US" sz="1500" dirty="0" err="1"/>
              <a:t>Métodos</a:t>
            </a:r>
            <a:r>
              <a:rPr lang="en-US" sz="1500" dirty="0"/>
              <a:t> Ensemble </a:t>
            </a:r>
          </a:p>
          <a:p>
            <a:pPr marL="1200150" lvl="2" indent="-2857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Bagging</a:t>
            </a:r>
          </a:p>
          <a:p>
            <a:pPr marL="1200150" lvl="2" indent="-2857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Boosting</a:t>
            </a:r>
          </a:p>
          <a:p>
            <a:pPr marL="0" indent="0" defTabSz="914400">
              <a:spcBef>
                <a:spcPts val="1200"/>
              </a:spcBef>
              <a:buNone/>
            </a:pPr>
            <a:endParaRPr lang="en-US" sz="1500" dirty="0"/>
          </a:p>
          <a:p>
            <a:pPr marL="171450" indent="-1714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500" dirty="0"/>
              <a:t> </a:t>
            </a:r>
            <a:r>
              <a:rPr lang="en-US" sz="1500" dirty="0" err="1"/>
              <a:t>Funcionamento</a:t>
            </a:r>
            <a:r>
              <a:rPr lang="en-US" sz="1500" dirty="0"/>
              <a:t>  </a:t>
            </a:r>
          </a:p>
          <a:p>
            <a:pPr marL="1085850" lvl="2" indent="-1714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dirty="0"/>
              <a:t>Pesos</a:t>
            </a:r>
          </a:p>
          <a:p>
            <a:pPr marL="1085850" lvl="2" indent="-1714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dirty="0" err="1"/>
              <a:t>Importância</a:t>
            </a:r>
            <a:r>
              <a:rPr lang="en-US" sz="1500" dirty="0"/>
              <a:t> x </a:t>
            </a:r>
            <a:r>
              <a:rPr lang="en-US" sz="1500" dirty="0" err="1"/>
              <a:t>Erros</a:t>
            </a:r>
            <a:r>
              <a:rPr lang="en-US" sz="1500" dirty="0"/>
              <a:t> dos </a:t>
            </a:r>
            <a:r>
              <a:rPr lang="en-US" sz="1500" dirty="0" err="1"/>
              <a:t>modelos</a:t>
            </a:r>
            <a:endParaRPr lang="en-US" sz="1500" dirty="0"/>
          </a:p>
        </p:txBody>
      </p:sp>
      <p:pic>
        <p:nvPicPr>
          <p:cNvPr id="3" name="Imagem 2" descr="Forma, Círculo&#10;&#10;Descrição gerada automaticamente">
            <a:extLst>
              <a:ext uri="{FF2B5EF4-FFF2-40B4-BE49-F238E27FC236}">
                <a16:creationId xmlns:a16="http://schemas.microsoft.com/office/drawing/2014/main" id="{F9045FD8-61F7-E258-6230-6BF89B021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4434" y="600710"/>
            <a:ext cx="2321470" cy="19710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Imagem 4" descr="Gráfico, Gráfico de linhas&#10;&#10;Descrição gerada automaticamente">
            <a:extLst>
              <a:ext uri="{FF2B5EF4-FFF2-40B4-BE49-F238E27FC236}">
                <a16:creationId xmlns:a16="http://schemas.microsoft.com/office/drawing/2014/main" id="{4D779DD4-6468-CCC6-4827-CE2869D89A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4434" y="2915426"/>
            <a:ext cx="2321470" cy="19710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37BDA47-340C-EECB-1D4D-E0E1EFB304AA}"/>
              </a:ext>
            </a:extLst>
          </p:cNvPr>
          <p:cNvSpPr txBox="1"/>
          <p:nvPr/>
        </p:nvSpPr>
        <p:spPr>
          <a:xfrm>
            <a:off x="6177776" y="2571750"/>
            <a:ext cx="24280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Figura 12: Relação entre Viés e Variância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8AB0E89-9A64-26DC-CEC5-4E42F2C96CEE}"/>
              </a:ext>
            </a:extLst>
          </p:cNvPr>
          <p:cNvSpPr txBox="1"/>
          <p:nvPr/>
        </p:nvSpPr>
        <p:spPr>
          <a:xfrm>
            <a:off x="5882686" y="4881264"/>
            <a:ext cx="28695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Figura 13: Relação entre Importância e Taxa de Erro</a:t>
            </a:r>
          </a:p>
        </p:txBody>
      </p:sp>
    </p:spTree>
    <p:extLst>
      <p:ext uri="{BB962C8B-B14F-4D97-AF65-F5344CB8AC3E}">
        <p14:creationId xmlns:p14="http://schemas.microsoft.com/office/powerpoint/2010/main" val="1648981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>
            <a:spLocks noGrp="1"/>
          </p:cNvSpPr>
          <p:nvPr>
            <p:ph type="title"/>
          </p:nvPr>
        </p:nvSpPr>
        <p:spPr>
          <a:xfrm>
            <a:off x="727650" y="5758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MATERIAL E MÉTODOS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7CD5C480-E25D-79F1-ACB7-46537D510D36}"/>
              </a:ext>
            </a:extLst>
          </p:cNvPr>
          <p:cNvSpPr txBox="1">
            <a:spLocks/>
          </p:cNvSpPr>
          <p:nvPr/>
        </p:nvSpPr>
        <p:spPr>
          <a:xfrm>
            <a:off x="768096" y="1202408"/>
            <a:ext cx="4071533" cy="3756168"/>
          </a:xfrm>
          <a:prstGeom prst="rect">
            <a:avLst/>
          </a:prstGeom>
        </p:spPr>
        <p:txBody>
          <a:bodyPr spcFirstLastPara="1" vert="horz" wrap="square" lIns="45720" tIns="45720" rIns="45720" bIns="45720" rtlCol="0" anchor="t" anchorCtr="0">
            <a:noAutofit/>
          </a:bodyPr>
          <a:lstStyle>
            <a:lvl1pPr marL="457200" lvl="0" indent="-3111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Tw Cen MT" panose="020B0602020104020603" pitchFamily="34" charset="0"/>
              <a:buChar char="●"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●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●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spcBef>
                <a:spcPts val="1200"/>
              </a:spcBef>
              <a:buFont typeface="Tw Cen MT" panose="020B0602020104020603" pitchFamily="34" charset="0"/>
              <a:buNone/>
            </a:pPr>
            <a:r>
              <a:rPr lang="en-US" sz="1800" u="sng" dirty="0"/>
              <a:t>Matriz de </a:t>
            </a:r>
            <a:r>
              <a:rPr lang="en-US" sz="1800" u="sng" dirty="0" err="1"/>
              <a:t>Confusão</a:t>
            </a:r>
            <a:endParaRPr lang="en-US" sz="1800" u="sng" dirty="0"/>
          </a:p>
          <a:p>
            <a:pPr marL="0" indent="0" defTabSz="914400">
              <a:spcBef>
                <a:spcPts val="1200"/>
              </a:spcBef>
              <a:buFont typeface="Tw Cen MT" panose="020B0602020104020603" pitchFamily="34" charset="0"/>
              <a:buNone/>
            </a:pPr>
            <a:endParaRPr lang="en-US" sz="100" dirty="0"/>
          </a:p>
          <a:p>
            <a:pPr marL="171450" indent="-1714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300" dirty="0"/>
              <a:t> </a:t>
            </a:r>
            <a:r>
              <a:rPr lang="en-US" sz="1600" dirty="0" err="1"/>
              <a:t>Classificação</a:t>
            </a:r>
            <a:r>
              <a:rPr lang="en-US" sz="1600" dirty="0"/>
              <a:t> </a:t>
            </a:r>
            <a:r>
              <a:rPr lang="en-US" sz="1600" dirty="0" err="1"/>
              <a:t>Binária</a:t>
            </a:r>
            <a:r>
              <a:rPr lang="en-US" sz="1600" dirty="0"/>
              <a:t>                                            </a:t>
            </a:r>
          </a:p>
          <a:p>
            <a:pPr marL="0" indent="0" defTabSz="914400">
              <a:spcBef>
                <a:spcPts val="1200"/>
              </a:spcBef>
              <a:buNone/>
            </a:pPr>
            <a:endParaRPr lang="en-US" sz="1600" dirty="0"/>
          </a:p>
          <a:p>
            <a:pPr marL="0" indent="0" defTabSz="914400">
              <a:spcBef>
                <a:spcPts val="1200"/>
              </a:spcBef>
              <a:buNone/>
            </a:pPr>
            <a:endParaRPr lang="en-US" sz="100" dirty="0"/>
          </a:p>
          <a:p>
            <a:pPr marL="0" indent="0" defTabSz="914400">
              <a:spcBef>
                <a:spcPts val="1200"/>
              </a:spcBef>
              <a:buNone/>
            </a:pPr>
            <a:endParaRPr lang="en-US" sz="100" dirty="0"/>
          </a:p>
          <a:p>
            <a:pPr marL="0" indent="0" defTabSz="914400">
              <a:spcBef>
                <a:spcPts val="1200"/>
              </a:spcBef>
              <a:buNone/>
            </a:pPr>
            <a:r>
              <a:rPr lang="en-US" sz="1400" dirty="0"/>
              <a:t> </a:t>
            </a:r>
          </a:p>
          <a:p>
            <a:pPr marL="1200150" lvl="2" indent="-285750" defTabSz="914400">
              <a:spcBef>
                <a:spcPts val="1200"/>
              </a:spcBef>
            </a:pPr>
            <a:endParaRPr lang="en-US" sz="1400" dirty="0"/>
          </a:p>
        </p:txBody>
      </p:sp>
      <p:sp>
        <p:nvSpPr>
          <p:cNvPr id="13" name="Espaço Reservado para Texto 2">
            <a:extLst>
              <a:ext uri="{FF2B5EF4-FFF2-40B4-BE49-F238E27FC236}">
                <a16:creationId xmlns:a16="http://schemas.microsoft.com/office/drawing/2014/main" id="{A40FEB3F-9482-51B0-A117-DF81D7A85D10}"/>
              </a:ext>
            </a:extLst>
          </p:cNvPr>
          <p:cNvSpPr txBox="1">
            <a:spLocks/>
          </p:cNvSpPr>
          <p:nvPr/>
        </p:nvSpPr>
        <p:spPr>
          <a:xfrm>
            <a:off x="4922874" y="1202408"/>
            <a:ext cx="3876779" cy="3667304"/>
          </a:xfrm>
          <a:prstGeom prst="rect">
            <a:avLst/>
          </a:prstGeom>
        </p:spPr>
        <p:txBody>
          <a:bodyPr spcFirstLastPara="1" vert="horz" wrap="square" lIns="45720" tIns="45720" rIns="45720" bIns="45720" rtlCol="0" anchor="t" anchorCtr="0">
            <a:noAutofit/>
          </a:bodyPr>
          <a:lstStyle>
            <a:lvl1pPr marL="457200" lvl="0" indent="-3111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Tw Cen MT" panose="020B0602020104020603" pitchFamily="34" charset="0"/>
              <a:buChar char="●"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●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●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spcBef>
                <a:spcPts val="1200"/>
              </a:spcBef>
              <a:buFont typeface="Tw Cen MT" panose="020B0602020104020603" pitchFamily="34" charset="0"/>
              <a:buNone/>
            </a:pPr>
            <a:endParaRPr lang="en-US" sz="100" dirty="0"/>
          </a:p>
          <a:p>
            <a:pPr marL="0" indent="0" defTabSz="914400">
              <a:spcBef>
                <a:spcPts val="1200"/>
              </a:spcBef>
              <a:buFont typeface="Tw Cen MT" panose="020B0602020104020603" pitchFamily="34" charset="0"/>
              <a:buNone/>
            </a:pPr>
            <a:endParaRPr lang="en-US" sz="100" dirty="0"/>
          </a:p>
          <a:p>
            <a:pPr marL="0" indent="0" defTabSz="914400">
              <a:spcBef>
                <a:spcPts val="1200"/>
              </a:spcBef>
              <a:buNone/>
            </a:pPr>
            <a:endParaRPr lang="en-US" sz="100" dirty="0"/>
          </a:p>
          <a:p>
            <a:pPr marL="171450" indent="-1714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600" dirty="0" err="1"/>
              <a:t>Medidas</a:t>
            </a:r>
            <a:r>
              <a:rPr lang="en-US" sz="1600" dirty="0"/>
              <a:t> de </a:t>
            </a:r>
            <a:r>
              <a:rPr lang="en-US" sz="1600" dirty="0" err="1"/>
              <a:t>Desempenho</a:t>
            </a:r>
            <a:endParaRPr lang="en-US" sz="1600" dirty="0"/>
          </a:p>
          <a:p>
            <a:pPr marL="1200150" lvl="2" indent="-2857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Acurácia</a:t>
            </a:r>
            <a:r>
              <a:rPr lang="en-US" sz="1400" dirty="0"/>
              <a:t> =</a:t>
            </a:r>
          </a:p>
          <a:p>
            <a:pPr marL="1200150" lvl="2" indent="-2857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100" dirty="0"/>
          </a:p>
          <a:p>
            <a:pPr marL="1200150" lvl="2" indent="-2857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1200150" lvl="2" indent="-2857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Sensibilidade</a:t>
            </a:r>
            <a:r>
              <a:rPr lang="en-US" sz="1400" dirty="0"/>
              <a:t> =</a:t>
            </a:r>
          </a:p>
          <a:p>
            <a:pPr marL="1200150" lvl="2" indent="-2857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100" dirty="0"/>
          </a:p>
          <a:p>
            <a:pPr marL="1200150" lvl="2" indent="-2857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1200150" lvl="2" indent="-2857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Especificidade</a:t>
            </a:r>
            <a:r>
              <a:rPr lang="en-US" sz="1400" dirty="0"/>
              <a:t> = </a:t>
            </a:r>
          </a:p>
          <a:p>
            <a:pPr marL="1200150" lvl="2" indent="-285750" defTabSz="914400">
              <a:spcBef>
                <a:spcPts val="1200"/>
              </a:spcBef>
            </a:pPr>
            <a:endParaRPr lang="en-US" sz="14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1E43AE9-B283-A7B9-137A-54E776CC6F67}"/>
              </a:ext>
            </a:extLst>
          </p:cNvPr>
          <p:cNvSpPr txBox="1"/>
          <p:nvPr/>
        </p:nvSpPr>
        <p:spPr>
          <a:xfrm>
            <a:off x="1308413" y="2453152"/>
            <a:ext cx="34197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Tabela 3: Exemplo de Matriz de Confusão Binária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7A8A699-8F09-AB0F-E3F0-CBDBA367B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407" y="2703827"/>
            <a:ext cx="4312713" cy="133614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A61A51E-1296-D8AD-4CC3-A25A2D74B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725" y="2219023"/>
            <a:ext cx="1547686" cy="349545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372823F2-28FF-2F55-1F4D-D37B91D7B1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2265" y="3022354"/>
            <a:ext cx="710604" cy="349545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AB7C984-DE1F-F1A5-B5B4-50D38D371C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0402" y="3854853"/>
            <a:ext cx="594331" cy="370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682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>
            <a:spLocks noGrp="1"/>
          </p:cNvSpPr>
          <p:nvPr>
            <p:ph type="title"/>
          </p:nvPr>
        </p:nvSpPr>
        <p:spPr>
          <a:xfrm>
            <a:off x="727650" y="5758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MATERIAL E MÉTODOS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7CD5C480-E25D-79F1-ACB7-46537D510D36}"/>
              </a:ext>
            </a:extLst>
          </p:cNvPr>
          <p:cNvSpPr txBox="1">
            <a:spLocks/>
          </p:cNvSpPr>
          <p:nvPr/>
        </p:nvSpPr>
        <p:spPr>
          <a:xfrm>
            <a:off x="768096" y="1202408"/>
            <a:ext cx="4071533" cy="3756168"/>
          </a:xfrm>
          <a:prstGeom prst="rect">
            <a:avLst/>
          </a:prstGeom>
        </p:spPr>
        <p:txBody>
          <a:bodyPr spcFirstLastPara="1" vert="horz" wrap="square" lIns="45720" tIns="45720" rIns="45720" bIns="45720" rtlCol="0" anchor="t" anchorCtr="0">
            <a:noAutofit/>
          </a:bodyPr>
          <a:lstStyle>
            <a:lvl1pPr marL="457200" lvl="0" indent="-3111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Tw Cen MT" panose="020B0602020104020603" pitchFamily="34" charset="0"/>
              <a:buChar char="●"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●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●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spcBef>
                <a:spcPts val="1200"/>
              </a:spcBef>
              <a:buFont typeface="Tw Cen MT" panose="020B0602020104020603" pitchFamily="34" charset="0"/>
              <a:buNone/>
            </a:pPr>
            <a:r>
              <a:rPr lang="en-US" sz="1800" u="sng" dirty="0"/>
              <a:t>Matriz de </a:t>
            </a:r>
            <a:r>
              <a:rPr lang="en-US" sz="1800" u="sng" dirty="0" err="1"/>
              <a:t>Confusão</a:t>
            </a:r>
            <a:endParaRPr lang="en-US" sz="1800" u="sng" dirty="0"/>
          </a:p>
          <a:p>
            <a:pPr marL="0" indent="0" defTabSz="914400">
              <a:spcBef>
                <a:spcPts val="1200"/>
              </a:spcBef>
              <a:buFont typeface="Tw Cen MT" panose="020B0602020104020603" pitchFamily="34" charset="0"/>
              <a:buNone/>
            </a:pPr>
            <a:endParaRPr lang="en-US" sz="100" dirty="0"/>
          </a:p>
          <a:p>
            <a:pPr marL="171450" indent="-1714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300" dirty="0"/>
              <a:t> </a:t>
            </a:r>
            <a:r>
              <a:rPr lang="en-US" sz="1600" dirty="0" err="1"/>
              <a:t>Classificação</a:t>
            </a:r>
            <a:r>
              <a:rPr lang="en-US" sz="1600" dirty="0"/>
              <a:t> </a:t>
            </a:r>
            <a:r>
              <a:rPr lang="en-US" sz="1600" dirty="0" err="1"/>
              <a:t>Multiclasse</a:t>
            </a:r>
            <a:r>
              <a:rPr lang="en-US" sz="1600" dirty="0"/>
              <a:t>                                            </a:t>
            </a:r>
          </a:p>
          <a:p>
            <a:pPr marL="0" indent="0" defTabSz="914400">
              <a:spcBef>
                <a:spcPts val="1200"/>
              </a:spcBef>
              <a:buNone/>
            </a:pPr>
            <a:endParaRPr lang="en-US" sz="1600" dirty="0"/>
          </a:p>
          <a:p>
            <a:pPr marL="0" indent="0" defTabSz="914400">
              <a:spcBef>
                <a:spcPts val="1200"/>
              </a:spcBef>
              <a:buNone/>
            </a:pPr>
            <a:endParaRPr lang="en-US" sz="100" dirty="0"/>
          </a:p>
          <a:p>
            <a:pPr marL="0" indent="0" defTabSz="914400">
              <a:spcBef>
                <a:spcPts val="1200"/>
              </a:spcBef>
              <a:buNone/>
            </a:pPr>
            <a:endParaRPr lang="en-US" sz="100" dirty="0"/>
          </a:p>
          <a:p>
            <a:pPr marL="0" indent="0" defTabSz="914400">
              <a:spcBef>
                <a:spcPts val="1200"/>
              </a:spcBef>
              <a:buNone/>
            </a:pPr>
            <a:r>
              <a:rPr lang="en-US" sz="1400" dirty="0"/>
              <a:t> </a:t>
            </a:r>
          </a:p>
          <a:p>
            <a:pPr marL="1200150" lvl="2" indent="-285750" defTabSz="914400">
              <a:spcBef>
                <a:spcPts val="1200"/>
              </a:spcBef>
            </a:pPr>
            <a:endParaRPr lang="en-US" sz="1400" dirty="0"/>
          </a:p>
        </p:txBody>
      </p:sp>
      <p:sp>
        <p:nvSpPr>
          <p:cNvPr id="13" name="Espaço Reservado para Texto 2">
            <a:extLst>
              <a:ext uri="{FF2B5EF4-FFF2-40B4-BE49-F238E27FC236}">
                <a16:creationId xmlns:a16="http://schemas.microsoft.com/office/drawing/2014/main" id="{A40FEB3F-9482-51B0-A117-DF81D7A85D10}"/>
              </a:ext>
            </a:extLst>
          </p:cNvPr>
          <p:cNvSpPr txBox="1">
            <a:spLocks/>
          </p:cNvSpPr>
          <p:nvPr/>
        </p:nvSpPr>
        <p:spPr>
          <a:xfrm>
            <a:off x="5232821" y="1614072"/>
            <a:ext cx="4071533" cy="2401229"/>
          </a:xfrm>
          <a:prstGeom prst="rect">
            <a:avLst/>
          </a:prstGeom>
        </p:spPr>
        <p:txBody>
          <a:bodyPr spcFirstLastPara="1" vert="horz" wrap="square" lIns="45720" tIns="45720" rIns="45720" bIns="45720" rtlCol="0" anchor="t" anchorCtr="0">
            <a:noAutofit/>
          </a:bodyPr>
          <a:lstStyle>
            <a:lvl1pPr marL="457200" lvl="0" indent="-3111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Tw Cen MT" panose="020B0602020104020603" pitchFamily="34" charset="0"/>
              <a:buChar char="●"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●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●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spcBef>
                <a:spcPts val="1200"/>
              </a:spcBef>
              <a:buNone/>
            </a:pPr>
            <a:endParaRPr lang="en-US" sz="100" dirty="0"/>
          </a:p>
          <a:p>
            <a:pPr marL="171450" indent="-1714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600" dirty="0"/>
              <a:t> </a:t>
            </a:r>
            <a:r>
              <a:rPr lang="en-US" sz="1600" dirty="0" err="1"/>
              <a:t>Medidas</a:t>
            </a:r>
            <a:r>
              <a:rPr lang="en-US" sz="1600" dirty="0"/>
              <a:t> de </a:t>
            </a:r>
            <a:r>
              <a:rPr lang="en-US" sz="1600" dirty="0" err="1"/>
              <a:t>Desempenho</a:t>
            </a:r>
            <a:endParaRPr lang="en-US" sz="1600" dirty="0"/>
          </a:p>
          <a:p>
            <a:pPr marL="171450" indent="-1714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171450" indent="-1714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171450" indent="-1714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171450" indent="-1714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1200150" lvl="2" indent="-2857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100" dirty="0"/>
          </a:p>
          <a:p>
            <a:pPr marL="1200150" lvl="2" indent="-285750" defTabSz="914400">
              <a:spcBef>
                <a:spcPts val="1200"/>
              </a:spcBef>
            </a:pPr>
            <a:endParaRPr lang="en-US" sz="14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BD0612C-1D28-8E31-8CE9-160B566BB041}"/>
              </a:ext>
            </a:extLst>
          </p:cNvPr>
          <p:cNvSpPr txBox="1"/>
          <p:nvPr/>
        </p:nvSpPr>
        <p:spPr>
          <a:xfrm>
            <a:off x="869899" y="2456334"/>
            <a:ext cx="30703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Tabela 4: Exemplo de Matriz de Confusão </a:t>
            </a:r>
            <a:r>
              <a:rPr lang="pt-BR" sz="900" dirty="0" err="1"/>
              <a:t>Multiclasse</a:t>
            </a:r>
            <a:endParaRPr lang="pt-BR" sz="9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C650BDC-E678-4267-946F-E22EB6846E4F}"/>
              </a:ext>
            </a:extLst>
          </p:cNvPr>
          <p:cNvSpPr txBox="1"/>
          <p:nvPr/>
        </p:nvSpPr>
        <p:spPr>
          <a:xfrm>
            <a:off x="4860608" y="2337526"/>
            <a:ext cx="4051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/>
              <a:t>Tabela 5: Matriz Binária com a classe Mandante sendo a positiva e as demais a negativa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6CA0754-E291-107C-1B2F-5A9A06B99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" y="2661552"/>
            <a:ext cx="4060292" cy="118126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2C5282C-EBFA-A507-8755-1D86D69FF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721" y="2661552"/>
            <a:ext cx="3593284" cy="1214389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B7A1923-8B6B-FF80-7536-A7E3B1301A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3378" y="4210482"/>
            <a:ext cx="3765969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6434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117F94-4A49-4CCB-AB97-121615AE4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651768C5-CA07-0410-0812-FE9252D37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5000" spc="100"/>
              <a:t>Análise dos resultados</a:t>
            </a:r>
          </a:p>
        </p:txBody>
      </p:sp>
      <p:graphicFrame>
        <p:nvGraphicFramePr>
          <p:cNvPr id="5" name="Espaço Reservado para Texto 2">
            <a:extLst>
              <a:ext uri="{FF2B5EF4-FFF2-40B4-BE49-F238E27FC236}">
                <a16:creationId xmlns:a16="http://schemas.microsoft.com/office/drawing/2014/main" id="{82CF2E42-C9E3-E9D6-C7E8-AA1DBABE62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8977346"/>
              </p:ext>
            </p:extLst>
          </p:nvPr>
        </p:nvGraphicFramePr>
        <p:xfrm>
          <a:off x="767953" y="1714500"/>
          <a:ext cx="7290197" cy="30170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84485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4F4AF38-8AAD-4B65-9274-0033CABC4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4580C8A5-5FDE-3DF8-7015-826D2F728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438912"/>
            <a:ext cx="2350185" cy="11247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3000" kern="1200" cap="all" spc="100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ANÁLISE DOS RESULTADOS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A732825A-DA1C-4AF8-CA85-7311F2B65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3" y="1714500"/>
            <a:ext cx="3096486" cy="2948940"/>
          </a:xfrm>
        </p:spPr>
        <p:txBody>
          <a:bodyPr vert="horz" lIns="45720" tIns="45720" rIns="45720" bIns="45720" rtlCol="0">
            <a:normAutofit/>
          </a:bodyPr>
          <a:lstStyle/>
          <a:p>
            <a:pPr marL="0" indent="0" defTabSz="914400">
              <a:spcBef>
                <a:spcPts val="1200"/>
              </a:spcBef>
              <a:buNone/>
            </a:pPr>
            <a:r>
              <a:rPr lang="en-US" sz="1200" dirty="0" err="1"/>
              <a:t>Análise</a:t>
            </a:r>
            <a:r>
              <a:rPr lang="en-US" sz="1200" dirty="0"/>
              <a:t> </a:t>
            </a:r>
            <a:r>
              <a:rPr lang="en-US" sz="1200" dirty="0" err="1"/>
              <a:t>Descritiva</a:t>
            </a:r>
            <a:endParaRPr lang="en-US" sz="1200" dirty="0"/>
          </a:p>
          <a:p>
            <a:pPr marL="171450" lvl="0" indent="-171450" defTabSz="91440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200" dirty="0"/>
              <a:t> </a:t>
            </a:r>
            <a:r>
              <a:rPr lang="en-US" sz="1600" b="1" dirty="0"/>
              <a:t>Caso 2 </a:t>
            </a:r>
            <a:r>
              <a:rPr lang="en-US" sz="1600" b="1" dirty="0" err="1"/>
              <a:t>campeonatos</a:t>
            </a:r>
            <a:r>
              <a:rPr lang="en-US" sz="1600" b="1" dirty="0"/>
              <a:t> e 3 classes</a:t>
            </a:r>
            <a:r>
              <a:rPr lang="en-US" sz="1600" dirty="0"/>
              <a:t>:</a:t>
            </a:r>
          </a:p>
          <a:p>
            <a:pPr marL="1085850" lvl="2" indent="-1714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 err="1"/>
              <a:t>Temporadas</a:t>
            </a:r>
            <a:r>
              <a:rPr lang="en-US" sz="1200" dirty="0"/>
              <a:t> 2016/2017 e 2017/2018</a:t>
            </a:r>
          </a:p>
          <a:p>
            <a:pPr marL="1085850" lvl="2" indent="-1714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 err="1"/>
              <a:t>Observações</a:t>
            </a:r>
            <a:r>
              <a:rPr lang="en-US" sz="1200" dirty="0"/>
              <a:t>: 760</a:t>
            </a:r>
          </a:p>
          <a:p>
            <a:pPr marL="1085850" lvl="2" indent="-1714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Classes: 3</a:t>
            </a:r>
          </a:p>
          <a:p>
            <a:pPr marL="171450" lvl="0" indent="-171450" defTabSz="91440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2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89918B4-EA54-7E98-D8C1-BEAB33774ED4}"/>
              </a:ext>
            </a:extLst>
          </p:cNvPr>
          <p:cNvSpPr txBox="1"/>
          <p:nvPr/>
        </p:nvSpPr>
        <p:spPr>
          <a:xfrm>
            <a:off x="3995469" y="3989287"/>
            <a:ext cx="438043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/>
              <a:t>Figura 14: Gráficos com a frequência absoluta e a porcentagem de cada classe com as temporadas </a:t>
            </a:r>
            <a:r>
              <a:rPr lang="en-US" sz="900" dirty="0"/>
              <a:t>2016/2017 e 2017/2018, </a:t>
            </a:r>
            <a:r>
              <a:rPr lang="en-US" sz="900" dirty="0" err="1"/>
              <a:t>utilizando</a:t>
            </a:r>
            <a:r>
              <a:rPr lang="en-US" sz="900" dirty="0"/>
              <a:t> 3 classes </a:t>
            </a:r>
            <a:r>
              <a:rPr lang="en-US" sz="900" dirty="0" err="1"/>
              <a:t>na</a:t>
            </a:r>
            <a:r>
              <a:rPr lang="en-US" sz="900" dirty="0"/>
              <a:t> </a:t>
            </a:r>
            <a:r>
              <a:rPr lang="en-US" sz="900" dirty="0" err="1"/>
              <a:t>variável</a:t>
            </a:r>
            <a:r>
              <a:rPr lang="en-US" sz="900" dirty="0"/>
              <a:t> </a:t>
            </a:r>
            <a:r>
              <a:rPr lang="en-US" sz="900" dirty="0" err="1"/>
              <a:t>resultado</a:t>
            </a:r>
            <a:endParaRPr lang="en-US" sz="900" dirty="0"/>
          </a:p>
          <a:p>
            <a:endParaRPr lang="pt-BR" sz="9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BDE40A8-FD93-374B-35EB-A55851C99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065" y="900297"/>
            <a:ext cx="5048403" cy="31081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24727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6EB1EB-B43B-E6D5-CA20-434439DCF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4F4AF38-8AAD-4B65-9274-0033CABC4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3DE0AF05-FF2B-46A1-532A-E1028FE31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438912"/>
            <a:ext cx="2350185" cy="11247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3000" kern="1200" cap="all" spc="100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ANÁLISE DOS RESULTADOS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A0A4AC8B-0C1A-0F06-D37E-57F6B571D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3" y="1714500"/>
            <a:ext cx="3255809" cy="2948940"/>
          </a:xfrm>
        </p:spPr>
        <p:txBody>
          <a:bodyPr vert="horz" lIns="45720" tIns="45720" rIns="45720" bIns="45720" rtlCol="0">
            <a:normAutofit/>
          </a:bodyPr>
          <a:lstStyle/>
          <a:p>
            <a:pPr marL="0" indent="0" defTabSz="914400">
              <a:spcBef>
                <a:spcPts val="1200"/>
              </a:spcBef>
              <a:buNone/>
            </a:pPr>
            <a:r>
              <a:rPr lang="en-US" sz="1200" dirty="0" err="1"/>
              <a:t>Análise</a:t>
            </a:r>
            <a:r>
              <a:rPr lang="en-US" sz="1200" dirty="0"/>
              <a:t> </a:t>
            </a:r>
            <a:r>
              <a:rPr lang="en-US" sz="1200" dirty="0" err="1"/>
              <a:t>Descritiva</a:t>
            </a:r>
            <a:endParaRPr lang="en-US" sz="1200" dirty="0"/>
          </a:p>
          <a:p>
            <a:pPr marL="171450" lvl="0" indent="-171450" defTabSz="91440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200" dirty="0"/>
              <a:t> </a:t>
            </a:r>
            <a:r>
              <a:rPr lang="en-US" sz="1600" b="1" dirty="0"/>
              <a:t>Caso 1 </a:t>
            </a:r>
            <a:r>
              <a:rPr lang="en-US" sz="1600" b="1" dirty="0" err="1"/>
              <a:t>campeonato</a:t>
            </a:r>
            <a:r>
              <a:rPr lang="en-US" sz="1600" b="1" dirty="0"/>
              <a:t> e 3 classes:</a:t>
            </a:r>
          </a:p>
          <a:p>
            <a:pPr marL="1085850" lvl="2" indent="-1714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 err="1"/>
              <a:t>Temporada</a:t>
            </a:r>
            <a:r>
              <a:rPr lang="en-US" sz="1200" dirty="0"/>
              <a:t> 2017/2018</a:t>
            </a:r>
          </a:p>
          <a:p>
            <a:pPr marL="1085850" lvl="2" indent="-1714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 err="1"/>
              <a:t>Observações</a:t>
            </a:r>
            <a:r>
              <a:rPr lang="en-US" sz="1200" dirty="0"/>
              <a:t>: 380</a:t>
            </a:r>
          </a:p>
          <a:p>
            <a:pPr marL="1085850" lvl="2" indent="-1714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Classes: 3</a:t>
            </a:r>
          </a:p>
          <a:p>
            <a:pPr marL="171450" lvl="0" indent="-171450" defTabSz="91440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200" dirty="0"/>
          </a:p>
        </p:txBody>
      </p:sp>
      <p:pic>
        <p:nvPicPr>
          <p:cNvPr id="5" name="Imagem 4" descr="Gráfico, Gráfico de pizza&#10;&#10;Descrição gerada automaticamente">
            <a:extLst>
              <a:ext uri="{FF2B5EF4-FFF2-40B4-BE49-F238E27FC236}">
                <a16:creationId xmlns:a16="http://schemas.microsoft.com/office/drawing/2014/main" id="{9C0D386B-B396-931E-83DA-06B9A6CA4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745" y="997118"/>
            <a:ext cx="5020194" cy="31492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5A28596-FFFD-66A7-1DE4-66A735FC4F42}"/>
              </a:ext>
            </a:extLst>
          </p:cNvPr>
          <p:cNvSpPr txBox="1"/>
          <p:nvPr/>
        </p:nvSpPr>
        <p:spPr>
          <a:xfrm>
            <a:off x="3995469" y="4146381"/>
            <a:ext cx="438043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/>
              <a:t>Figura 15: Gráficos com a frequência absoluta e a porcentagem de cada classe com a temporada </a:t>
            </a:r>
            <a:r>
              <a:rPr lang="en-US" sz="900" dirty="0"/>
              <a:t>2017/2018, </a:t>
            </a:r>
            <a:r>
              <a:rPr lang="en-US" sz="900" dirty="0" err="1"/>
              <a:t>utilizando</a:t>
            </a:r>
            <a:r>
              <a:rPr lang="en-US" sz="900" dirty="0"/>
              <a:t> 3 classes </a:t>
            </a:r>
            <a:r>
              <a:rPr lang="en-US" sz="900" dirty="0" err="1"/>
              <a:t>na</a:t>
            </a:r>
            <a:r>
              <a:rPr lang="en-US" sz="900" dirty="0"/>
              <a:t> </a:t>
            </a:r>
            <a:r>
              <a:rPr lang="en-US" sz="900" dirty="0" err="1"/>
              <a:t>variável</a:t>
            </a:r>
            <a:r>
              <a:rPr lang="en-US" sz="900" dirty="0"/>
              <a:t> </a:t>
            </a:r>
            <a:r>
              <a:rPr lang="en-US" sz="900" dirty="0" err="1"/>
              <a:t>resultado</a:t>
            </a:r>
            <a:endParaRPr lang="en-US" sz="900" dirty="0"/>
          </a:p>
          <a:p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4097888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42E9A8-1E20-A008-56E5-9E01C2FCF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4F4AF38-8AAD-4B65-9274-0033CABC4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6BD2CC66-2FE2-733A-8E15-6CDDD1B9B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438912"/>
            <a:ext cx="2350185" cy="11247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3000" kern="1200" cap="all" spc="100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ANÁLISE DOS RESULTADOS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478F6475-5B87-B59B-B4CE-16AE5F11F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331" y="1714500"/>
            <a:ext cx="3117265" cy="2948940"/>
          </a:xfrm>
        </p:spPr>
        <p:txBody>
          <a:bodyPr vert="horz" lIns="45720" tIns="45720" rIns="45720" bIns="45720" rtlCol="0">
            <a:normAutofit/>
          </a:bodyPr>
          <a:lstStyle/>
          <a:p>
            <a:pPr marL="0" indent="0" defTabSz="914400">
              <a:spcBef>
                <a:spcPts val="1200"/>
              </a:spcBef>
              <a:buNone/>
            </a:pPr>
            <a:r>
              <a:rPr lang="en-US" sz="1200" dirty="0" err="1"/>
              <a:t>Análise</a:t>
            </a:r>
            <a:r>
              <a:rPr lang="en-US" sz="1200" dirty="0"/>
              <a:t> </a:t>
            </a:r>
            <a:r>
              <a:rPr lang="en-US" sz="1200" dirty="0" err="1"/>
              <a:t>Descritiva</a:t>
            </a:r>
            <a:endParaRPr lang="en-US" sz="1200" dirty="0"/>
          </a:p>
          <a:p>
            <a:pPr marL="171450" lvl="0" indent="-171450" defTabSz="91440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200" dirty="0"/>
              <a:t> </a:t>
            </a:r>
            <a:r>
              <a:rPr lang="en-US" sz="1600" b="1" dirty="0"/>
              <a:t>Caso 2 </a:t>
            </a:r>
            <a:r>
              <a:rPr lang="en-US" sz="1600" b="1" dirty="0" err="1"/>
              <a:t>campeonatos</a:t>
            </a:r>
            <a:r>
              <a:rPr lang="en-US" sz="1600" b="1" dirty="0"/>
              <a:t> e 2 classes:</a:t>
            </a:r>
          </a:p>
          <a:p>
            <a:pPr marL="1085850" lvl="2" indent="-1714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 err="1"/>
              <a:t>Temporadas</a:t>
            </a:r>
            <a:r>
              <a:rPr lang="en-US" sz="1200" dirty="0"/>
              <a:t> 2016/2017 e 2017/2018</a:t>
            </a:r>
          </a:p>
          <a:p>
            <a:pPr marL="1085850" lvl="2" indent="-1714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 err="1"/>
              <a:t>Observações</a:t>
            </a:r>
            <a:r>
              <a:rPr lang="en-US" sz="1200" dirty="0"/>
              <a:t>: 760</a:t>
            </a:r>
          </a:p>
          <a:p>
            <a:pPr marL="1085850" lvl="2" indent="-1714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Classes: 2</a:t>
            </a:r>
          </a:p>
          <a:p>
            <a:pPr marL="171450" lvl="0" indent="-171450" defTabSz="91440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2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44B86CA-24FC-182A-15B5-C3C661690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1073728"/>
            <a:ext cx="5158739" cy="30786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EA08800-F99F-7D2E-4D41-ACF4930B7ECE}"/>
              </a:ext>
            </a:extLst>
          </p:cNvPr>
          <p:cNvSpPr txBox="1"/>
          <p:nvPr/>
        </p:nvSpPr>
        <p:spPr>
          <a:xfrm>
            <a:off x="3894351" y="4155609"/>
            <a:ext cx="438043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/>
              <a:t>Figura 16: Gráficos com a frequência absoluta e a porcentagem de cada classe com as temporadas </a:t>
            </a:r>
            <a:r>
              <a:rPr lang="en-US" sz="900" dirty="0"/>
              <a:t>2016/2017 e 2017/2018, </a:t>
            </a:r>
            <a:r>
              <a:rPr lang="en-US" sz="900" dirty="0" err="1"/>
              <a:t>utilizando</a:t>
            </a:r>
            <a:r>
              <a:rPr lang="en-US" sz="900" dirty="0"/>
              <a:t> 2 classes </a:t>
            </a:r>
            <a:r>
              <a:rPr lang="en-US" sz="900" dirty="0" err="1"/>
              <a:t>na</a:t>
            </a:r>
            <a:r>
              <a:rPr lang="en-US" sz="900" dirty="0"/>
              <a:t> </a:t>
            </a:r>
            <a:r>
              <a:rPr lang="en-US" sz="900" dirty="0" err="1"/>
              <a:t>variável</a:t>
            </a:r>
            <a:r>
              <a:rPr lang="en-US" sz="900" dirty="0"/>
              <a:t> </a:t>
            </a:r>
            <a:r>
              <a:rPr lang="en-US" sz="900" dirty="0" err="1"/>
              <a:t>resultado</a:t>
            </a:r>
            <a:r>
              <a:rPr lang="en-US" sz="900" dirty="0"/>
              <a:t>.</a:t>
            </a:r>
          </a:p>
          <a:p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28324081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6EA781-FFD8-2488-0B06-D53F1DF50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4F4AF38-8AAD-4B65-9274-0033CABC4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3C136435-C02A-0A1B-D2C9-1F3DE63A4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438912"/>
            <a:ext cx="2350185" cy="11247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3000" kern="1200" cap="all" spc="100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ANÁLISE DOS RESULTADOS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226DEE66-E5AA-F4A3-D6F0-CC590936A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477" y="1714500"/>
            <a:ext cx="3387431" cy="2948940"/>
          </a:xfrm>
        </p:spPr>
        <p:txBody>
          <a:bodyPr vert="horz" lIns="45720" tIns="45720" rIns="45720" bIns="45720" rtlCol="0">
            <a:normAutofit/>
          </a:bodyPr>
          <a:lstStyle/>
          <a:p>
            <a:pPr marL="0" indent="0" defTabSz="914400">
              <a:spcBef>
                <a:spcPts val="1200"/>
              </a:spcBef>
              <a:buNone/>
            </a:pPr>
            <a:r>
              <a:rPr lang="en-US" sz="1200" dirty="0" err="1"/>
              <a:t>Análise</a:t>
            </a:r>
            <a:r>
              <a:rPr lang="en-US" sz="1200" dirty="0"/>
              <a:t> </a:t>
            </a:r>
            <a:r>
              <a:rPr lang="en-US" sz="1200" dirty="0" err="1"/>
              <a:t>Descritiva</a:t>
            </a:r>
            <a:endParaRPr lang="en-US" sz="1200" dirty="0"/>
          </a:p>
          <a:p>
            <a:pPr marL="171450" lvl="0" indent="-171450" defTabSz="91440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200" dirty="0"/>
              <a:t> </a:t>
            </a:r>
            <a:r>
              <a:rPr lang="en-US" sz="1600" b="1" dirty="0"/>
              <a:t>Caso 1 </a:t>
            </a:r>
            <a:r>
              <a:rPr lang="en-US" sz="1600" b="1" dirty="0" err="1"/>
              <a:t>campeonato</a:t>
            </a:r>
            <a:r>
              <a:rPr lang="en-US" sz="1600" b="1" dirty="0"/>
              <a:t> e duas classes:</a:t>
            </a:r>
          </a:p>
          <a:p>
            <a:pPr marL="1085850" lvl="2" indent="-1714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 err="1"/>
              <a:t>Temporada</a:t>
            </a:r>
            <a:r>
              <a:rPr lang="en-US" sz="1200" dirty="0"/>
              <a:t> 2017/2018</a:t>
            </a:r>
          </a:p>
          <a:p>
            <a:pPr marL="1085850" lvl="2" indent="-1714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 err="1"/>
              <a:t>Observações</a:t>
            </a:r>
            <a:r>
              <a:rPr lang="en-US" sz="1200" dirty="0"/>
              <a:t>: 380</a:t>
            </a:r>
          </a:p>
          <a:p>
            <a:pPr marL="1085850" lvl="2" indent="-1714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Classes: 2</a:t>
            </a:r>
          </a:p>
          <a:p>
            <a:pPr marL="171450" lvl="0" indent="-171450" defTabSz="91440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2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55870DD-8709-2300-414A-F44743F14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1006543"/>
            <a:ext cx="4930139" cy="31304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73B4B97-A789-D74F-CB54-D7963AC416AD}"/>
              </a:ext>
            </a:extLst>
          </p:cNvPr>
          <p:cNvSpPr txBox="1"/>
          <p:nvPr/>
        </p:nvSpPr>
        <p:spPr>
          <a:xfrm>
            <a:off x="4082613" y="4129274"/>
            <a:ext cx="438043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/>
              <a:t>Figura 17: Gráficos com a frequência absoluta e a porcentagem de cada classe com a temporadas </a:t>
            </a:r>
            <a:r>
              <a:rPr lang="en-US" sz="900" dirty="0"/>
              <a:t>2017/2018, </a:t>
            </a:r>
            <a:r>
              <a:rPr lang="en-US" sz="900" dirty="0" err="1"/>
              <a:t>utilizando</a:t>
            </a:r>
            <a:r>
              <a:rPr lang="en-US" sz="900" dirty="0"/>
              <a:t> 2 classes </a:t>
            </a:r>
            <a:r>
              <a:rPr lang="en-US" sz="900" dirty="0" err="1"/>
              <a:t>na</a:t>
            </a:r>
            <a:r>
              <a:rPr lang="en-US" sz="900" dirty="0"/>
              <a:t> </a:t>
            </a:r>
            <a:r>
              <a:rPr lang="en-US" sz="900" dirty="0" err="1"/>
              <a:t>variável</a:t>
            </a:r>
            <a:r>
              <a:rPr lang="en-US" sz="900" dirty="0"/>
              <a:t> </a:t>
            </a:r>
            <a:r>
              <a:rPr lang="en-US" sz="900" dirty="0" err="1"/>
              <a:t>resultado</a:t>
            </a:r>
            <a:r>
              <a:rPr lang="en-US" sz="900" dirty="0"/>
              <a:t>.</a:t>
            </a:r>
          </a:p>
          <a:p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6203562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41E72C-C7E4-44CA-ABD8-A0A781A2F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D2E8B58-F5A6-F9BD-04BB-B41645EB6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2785DEC6-FD6E-F75E-BBCC-79DB39282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241485"/>
            <a:ext cx="3630722" cy="11247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3000" kern="1200" cap="all" spc="100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ANÁLISE DOS RESULTADOS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9709461C-DAB0-ADCA-F95C-6BB40E5D8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6751" y="852372"/>
            <a:ext cx="2608115" cy="857250"/>
          </a:xfrm>
        </p:spPr>
        <p:txBody>
          <a:bodyPr vert="horz" lIns="45720" tIns="45720" rIns="45720" bIns="45720" rtlCol="0">
            <a:normAutofit/>
          </a:bodyPr>
          <a:lstStyle/>
          <a:p>
            <a:pPr marL="0" indent="0" defTabSz="914400">
              <a:spcBef>
                <a:spcPts val="1200"/>
              </a:spcBef>
              <a:buNone/>
            </a:pPr>
            <a:endParaRPr lang="en-US" sz="1200" dirty="0"/>
          </a:p>
          <a:p>
            <a:pPr marL="171450" lvl="0" indent="-171450" defTabSz="91440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200" dirty="0"/>
              <a:t>Com </a:t>
            </a:r>
            <a:r>
              <a:rPr lang="en-US" sz="1200" dirty="0" err="1"/>
              <a:t>relação</a:t>
            </a:r>
            <a:r>
              <a:rPr lang="en-US" sz="1200" dirty="0"/>
              <a:t> com a </a:t>
            </a:r>
            <a:r>
              <a:rPr lang="en-US" sz="1200" dirty="0" err="1"/>
              <a:t>variável</a:t>
            </a:r>
            <a:r>
              <a:rPr lang="en-US" sz="1200" dirty="0"/>
              <a:t> </a:t>
            </a:r>
            <a:r>
              <a:rPr lang="en-US" sz="1200" dirty="0" err="1"/>
              <a:t>Resultado</a:t>
            </a:r>
            <a:endParaRPr lang="en-US" sz="1200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A358013-E564-19B3-C19B-BEA67CAC511B}"/>
              </a:ext>
            </a:extLst>
          </p:cNvPr>
          <p:cNvSpPr txBox="1">
            <a:spLocks/>
          </p:cNvSpPr>
          <p:nvPr/>
        </p:nvSpPr>
        <p:spPr>
          <a:xfrm>
            <a:off x="5152509" y="831342"/>
            <a:ext cx="3334101" cy="842426"/>
          </a:xfrm>
          <a:prstGeom prst="rect">
            <a:avLst/>
          </a:prstGeom>
        </p:spPr>
        <p:txBody>
          <a:bodyPr spcFirstLastPara="1" vert="horz" wrap="square" lIns="45720" tIns="45720" rIns="45720" bIns="45720" rtlCol="0" anchor="t" anchorCtr="0">
            <a:normAutofit/>
          </a:bodyPr>
          <a:lstStyle>
            <a:lvl1pPr marL="457200" lvl="0" indent="-3111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Tw Cen MT" panose="020B0602020104020603" pitchFamily="34" charset="0"/>
              <a:buChar char="●"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●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●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spcBef>
                <a:spcPts val="1200"/>
              </a:spcBef>
              <a:buFont typeface="Tw Cen MT" panose="020B0602020104020603" pitchFamily="34" charset="0"/>
              <a:buNone/>
            </a:pPr>
            <a:endParaRPr lang="en-US" sz="1200" dirty="0"/>
          </a:p>
          <a:p>
            <a:pPr marL="171450" indent="-1714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200" dirty="0"/>
              <a:t>Sem </a:t>
            </a:r>
            <a:r>
              <a:rPr lang="en-US" sz="1200" dirty="0" err="1"/>
              <a:t>relação</a:t>
            </a:r>
            <a:r>
              <a:rPr lang="en-US" sz="1200" dirty="0"/>
              <a:t> com a </a:t>
            </a:r>
            <a:r>
              <a:rPr lang="en-US" sz="1200" dirty="0" err="1"/>
              <a:t>variável</a:t>
            </a:r>
            <a:r>
              <a:rPr lang="en-US" sz="1200" dirty="0"/>
              <a:t> </a:t>
            </a:r>
            <a:r>
              <a:rPr lang="en-US" sz="1200" dirty="0" err="1"/>
              <a:t>Resultado</a:t>
            </a:r>
            <a:endParaRPr lang="en-US" sz="12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A7BE256-4419-E16A-49B6-18E3D85CA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47" y="1513505"/>
            <a:ext cx="4176464" cy="332942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407E1C6-E189-55A8-4055-123BB577D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564" y="1486177"/>
            <a:ext cx="3649990" cy="338407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613C27B-E192-55C6-21B1-1AEEEF8F98AE}"/>
              </a:ext>
            </a:extLst>
          </p:cNvPr>
          <p:cNvSpPr txBox="1"/>
          <p:nvPr/>
        </p:nvSpPr>
        <p:spPr>
          <a:xfrm>
            <a:off x="684232" y="4763646"/>
            <a:ext cx="43804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Figura 18: </a:t>
            </a:r>
            <a:r>
              <a:rPr lang="pt-BR" sz="900" dirty="0" err="1"/>
              <a:t>Boxplots</a:t>
            </a:r>
            <a:r>
              <a:rPr lang="pt-BR" sz="900" dirty="0"/>
              <a:t> das variáveis que possuem aparente relação com a resultado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B2FD101-F2EE-1428-0E40-926C612AA23A}"/>
              </a:ext>
            </a:extLst>
          </p:cNvPr>
          <p:cNvSpPr txBox="1"/>
          <p:nvPr/>
        </p:nvSpPr>
        <p:spPr>
          <a:xfrm>
            <a:off x="4994564" y="4763646"/>
            <a:ext cx="43804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Figura 19: </a:t>
            </a:r>
            <a:r>
              <a:rPr lang="pt-BR" sz="900" dirty="0" err="1"/>
              <a:t>Boxplots</a:t>
            </a:r>
            <a:r>
              <a:rPr lang="pt-BR" sz="900" dirty="0"/>
              <a:t> das variáveis que não possuem relação com a resultado</a:t>
            </a:r>
          </a:p>
        </p:txBody>
      </p:sp>
    </p:spTree>
    <p:extLst>
      <p:ext uri="{BB962C8B-B14F-4D97-AF65-F5344CB8AC3E}">
        <p14:creationId xmlns:p14="http://schemas.microsoft.com/office/powerpoint/2010/main" val="3990302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7FF893-4CE8-30BD-5392-5D295AFCE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4F4AF38-8AAD-4B65-9274-0033CABC4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CEE30F74-A08D-23B2-7862-A7CD011D5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42" y="151911"/>
            <a:ext cx="3374412" cy="12674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3000" kern="1200" cap="all" spc="100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Seleção</a:t>
            </a:r>
            <a:r>
              <a:rPr lang="en-US" sz="3000" kern="1200" cap="all" spc="100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 das </a:t>
            </a:r>
            <a:r>
              <a:rPr lang="en-US" sz="3000" kern="1200" cap="all" spc="100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variáveis</a:t>
            </a:r>
            <a:endParaRPr lang="en-US" sz="3000" kern="1200" cap="all" spc="100" baseline="0" dirty="0">
              <a:solidFill>
                <a:schemeClr val="tx1">
                  <a:lumMod val="90000"/>
                  <a:lumOff val="1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7DB66535-65C8-57A1-B2F7-5766A2E4C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629" y="693968"/>
            <a:ext cx="3002833" cy="1220685"/>
          </a:xfrm>
        </p:spPr>
        <p:txBody>
          <a:bodyPr vert="horz" lIns="45720" tIns="45720" rIns="45720" bIns="45720" rtlCol="0">
            <a:normAutofit/>
          </a:bodyPr>
          <a:lstStyle/>
          <a:p>
            <a:pPr marL="0" indent="0" defTabSz="914400">
              <a:spcBef>
                <a:spcPts val="1200"/>
              </a:spcBef>
              <a:buNone/>
            </a:pPr>
            <a:endParaRPr lang="en-US" sz="1200" dirty="0"/>
          </a:p>
          <a:p>
            <a:pPr marL="0" indent="0" defTabSz="914400">
              <a:spcBef>
                <a:spcPts val="1200"/>
              </a:spcBef>
              <a:buNone/>
            </a:pPr>
            <a:endParaRPr lang="en-US" sz="1200" dirty="0"/>
          </a:p>
          <a:p>
            <a:pPr marL="171450" lvl="0" indent="-171450" defTabSz="91440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200" dirty="0" err="1"/>
              <a:t>Número</a:t>
            </a:r>
            <a:r>
              <a:rPr lang="en-US" sz="1200" dirty="0"/>
              <a:t> de </a:t>
            </a:r>
            <a:r>
              <a:rPr lang="en-US" sz="1200" dirty="0" err="1"/>
              <a:t>Variáveis</a:t>
            </a:r>
            <a:endParaRPr lang="en-US" sz="12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8677886-1CA0-48C7-AB2C-899854E2B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40" y="1731818"/>
            <a:ext cx="3986505" cy="3151986"/>
          </a:xfrm>
          <a:prstGeom prst="rect">
            <a:avLst/>
          </a:prstGeom>
        </p:spPr>
      </p:pic>
      <p:sp>
        <p:nvSpPr>
          <p:cNvPr id="7" name="Espaço Reservado para Texto 2">
            <a:extLst>
              <a:ext uri="{FF2B5EF4-FFF2-40B4-BE49-F238E27FC236}">
                <a16:creationId xmlns:a16="http://schemas.microsoft.com/office/drawing/2014/main" id="{26BF4F39-5577-1621-4EF6-5076FA380F55}"/>
              </a:ext>
            </a:extLst>
          </p:cNvPr>
          <p:cNvSpPr txBox="1">
            <a:spLocks/>
          </p:cNvSpPr>
          <p:nvPr/>
        </p:nvSpPr>
        <p:spPr>
          <a:xfrm>
            <a:off x="4614447" y="1046561"/>
            <a:ext cx="2350185" cy="745671"/>
          </a:xfrm>
          <a:prstGeom prst="rect">
            <a:avLst/>
          </a:prstGeom>
        </p:spPr>
        <p:txBody>
          <a:bodyPr spcFirstLastPara="1" vert="horz" wrap="square" lIns="45720" tIns="45720" rIns="45720" bIns="45720" rtlCol="0" anchor="t" anchorCtr="0">
            <a:normAutofit/>
          </a:bodyPr>
          <a:lstStyle>
            <a:lvl1pPr marL="457200" lvl="0" indent="-3111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Tw Cen MT" panose="020B0602020104020603" pitchFamily="34" charset="0"/>
              <a:buChar char="●"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●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●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spcBef>
                <a:spcPts val="1200"/>
              </a:spcBef>
              <a:buFont typeface="Tw Cen MT" panose="020B0602020104020603" pitchFamily="34" charset="0"/>
              <a:buNone/>
            </a:pPr>
            <a:endParaRPr lang="en-US" sz="1200" dirty="0"/>
          </a:p>
          <a:p>
            <a:pPr marL="171450" indent="-1714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100" dirty="0" err="1"/>
              <a:t>Importância</a:t>
            </a:r>
            <a:r>
              <a:rPr lang="en-US" sz="1100" dirty="0"/>
              <a:t> das </a:t>
            </a:r>
            <a:r>
              <a:rPr lang="en-US" sz="1100" dirty="0" err="1"/>
              <a:t>Variáveis</a:t>
            </a:r>
            <a:endParaRPr lang="en-US" sz="11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AFC0D21-1615-D169-1F9E-9992485BD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1" y="1792233"/>
            <a:ext cx="4220370" cy="30273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15DD0B68-DDAF-B426-03EB-3925A9F71CBF}"/>
              </a:ext>
            </a:extLst>
          </p:cNvPr>
          <p:cNvSpPr txBox="1"/>
          <p:nvPr/>
        </p:nvSpPr>
        <p:spPr>
          <a:xfrm>
            <a:off x="266840" y="4790067"/>
            <a:ext cx="39856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Figura 20: Gráfico que mostra a número de variáveis que geram o melhor modelo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4991701-2D42-282D-2BAE-D6C15E37A2DB}"/>
              </a:ext>
            </a:extLst>
          </p:cNvPr>
          <p:cNvSpPr txBox="1"/>
          <p:nvPr/>
        </p:nvSpPr>
        <p:spPr>
          <a:xfrm>
            <a:off x="5158367" y="4768388"/>
            <a:ext cx="39856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Figura 21: Gráfico que mostra a importância de cada variável </a:t>
            </a:r>
          </a:p>
        </p:txBody>
      </p:sp>
    </p:spTree>
    <p:extLst>
      <p:ext uri="{BB962C8B-B14F-4D97-AF65-F5344CB8AC3E}">
        <p14:creationId xmlns:p14="http://schemas.microsoft.com/office/powerpoint/2010/main" val="13414210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691050-8560-F1C4-89E7-122460360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4F4AF38-8AAD-4B65-9274-0033CABC4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EEDB6088-1931-A337-F8A9-96B2AE2EF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438912"/>
            <a:ext cx="3323844" cy="11247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3300" kern="1200" cap="all" spc="100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Seleção das variáveis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5EF1B92C-24B3-8D3E-5543-18BBF4127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096" y="1714500"/>
            <a:ext cx="3322211" cy="2948940"/>
          </a:xfrm>
        </p:spPr>
        <p:txBody>
          <a:bodyPr vert="horz" lIns="45720" tIns="45720" rIns="45720" bIns="45720" rtlCol="0">
            <a:normAutofit/>
          </a:bodyPr>
          <a:lstStyle/>
          <a:p>
            <a:pPr marL="0" indent="0" defTabSz="914400">
              <a:spcBef>
                <a:spcPts val="1200"/>
              </a:spcBef>
              <a:buNone/>
            </a:pPr>
            <a:endParaRPr lang="en-US"/>
          </a:p>
          <a:p>
            <a:pPr marL="0" indent="0" defTabSz="914400">
              <a:spcBef>
                <a:spcPts val="1200"/>
              </a:spcBef>
              <a:buNone/>
            </a:pPr>
            <a:endParaRPr lang="en-US"/>
          </a:p>
          <a:p>
            <a:pPr marL="171450" lvl="0" indent="-171450" defTabSz="91440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/>
              <a:t>Características: </a:t>
            </a:r>
          </a:p>
          <a:p>
            <a:pPr marL="628650" lvl="1" indent="-1714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/>
              <a:t>Mandantes x Visitantes</a:t>
            </a:r>
          </a:p>
          <a:p>
            <a:pPr marL="628650" lvl="1" indent="-1714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/>
              <a:t>Ataque x Defesa</a:t>
            </a:r>
          </a:p>
          <a:p>
            <a:pPr marL="0" indent="0" defTabSz="914400">
              <a:spcBef>
                <a:spcPts val="1200"/>
              </a:spcBef>
              <a:buNone/>
            </a:pPr>
            <a:r>
              <a:rPr lang="en-US"/>
              <a:t>    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D3CA2DC-6B76-51EF-8054-2F8676E9B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89337"/>
            <a:ext cx="4091940" cy="416482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6442087-90C9-8DB9-5483-F2B4290FB5AA}"/>
              </a:ext>
            </a:extLst>
          </p:cNvPr>
          <p:cNvSpPr txBox="1"/>
          <p:nvPr/>
        </p:nvSpPr>
        <p:spPr>
          <a:xfrm>
            <a:off x="4572000" y="258505"/>
            <a:ext cx="42325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Tabela 6: Variáveis mais importantes e utilizados para a estimação dos modelos</a:t>
            </a:r>
          </a:p>
        </p:txBody>
      </p:sp>
    </p:spTree>
    <p:extLst>
      <p:ext uri="{BB962C8B-B14F-4D97-AF65-F5344CB8AC3E}">
        <p14:creationId xmlns:p14="http://schemas.microsoft.com/office/powerpoint/2010/main" val="5549923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D9421A-D56E-8058-04B7-B3B211430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84960AC-1CD6-452A-B5F4-2186E3FD7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EFF43952-6DBE-E9A4-3F4A-E5E8F1086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438912"/>
            <a:ext cx="6013704" cy="11247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5000" spc="100"/>
              <a:t>Resultados dos modelos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45F2E30B-7419-9B30-F832-47DF19A27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096" y="1714500"/>
            <a:ext cx="6013703" cy="3017520"/>
          </a:xfrm>
        </p:spPr>
        <p:txBody>
          <a:bodyPr vert="horz" lIns="45720" tIns="45720" rIns="45720" bIns="45720" rtlCol="0">
            <a:normAutofit/>
          </a:bodyPr>
          <a:lstStyle/>
          <a:p>
            <a:pPr marL="0" indent="0" defTabSz="914400">
              <a:spcBef>
                <a:spcPts val="1200"/>
              </a:spcBef>
              <a:buNone/>
            </a:pPr>
            <a:endParaRPr lang="en-US" dirty="0"/>
          </a:p>
          <a:p>
            <a:pPr marL="0" indent="0" defTabSz="914400">
              <a:spcBef>
                <a:spcPts val="1200"/>
              </a:spcBef>
              <a:buNone/>
            </a:pPr>
            <a:endParaRPr lang="en-US" dirty="0"/>
          </a:p>
          <a:p>
            <a:pPr marL="171450" lvl="0" indent="-171450" defTabSz="91440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dirty="0"/>
              <a:t>Bases de </a:t>
            </a:r>
            <a:r>
              <a:rPr lang="en-US" dirty="0" err="1"/>
              <a:t>treino</a:t>
            </a:r>
            <a:r>
              <a:rPr lang="en-US" dirty="0"/>
              <a:t> e teste</a:t>
            </a:r>
          </a:p>
          <a:p>
            <a:pPr marL="0" lvl="0" indent="0" defTabSz="914400">
              <a:spcBef>
                <a:spcPts val="1200"/>
              </a:spcBef>
              <a:spcAft>
                <a:spcPts val="0"/>
              </a:spcAft>
              <a:buNone/>
            </a:pPr>
            <a:endParaRPr lang="en-US" dirty="0"/>
          </a:p>
          <a:p>
            <a:pPr marL="171450" lvl="0" indent="-171450" defTabSz="91440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dirty="0" err="1"/>
              <a:t>Análises</a:t>
            </a:r>
            <a:r>
              <a:rPr lang="en-US" dirty="0"/>
              <a:t> dos 3 </a:t>
            </a:r>
            <a:r>
              <a:rPr lang="en-US" dirty="0" err="1"/>
              <a:t>casos</a:t>
            </a:r>
            <a:r>
              <a:rPr lang="en-US" dirty="0"/>
              <a:t> </a:t>
            </a:r>
            <a:r>
              <a:rPr lang="en-US" dirty="0" err="1"/>
              <a:t>mencionados</a:t>
            </a:r>
            <a:r>
              <a:rPr lang="en-US" dirty="0"/>
              <a:t>: </a:t>
            </a:r>
          </a:p>
          <a:p>
            <a:pPr marL="628650" lvl="1" indent="-1714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Caso 1:  </a:t>
            </a:r>
            <a:r>
              <a:rPr lang="en-US" dirty="0" err="1"/>
              <a:t>dois</a:t>
            </a:r>
            <a:r>
              <a:rPr lang="en-US" dirty="0"/>
              <a:t> </a:t>
            </a:r>
            <a:r>
              <a:rPr lang="en-US" dirty="0" err="1"/>
              <a:t>campeonatos</a:t>
            </a:r>
            <a:r>
              <a:rPr lang="en-US" dirty="0"/>
              <a:t> contra um</a:t>
            </a:r>
          </a:p>
          <a:p>
            <a:pPr marL="628650" lvl="1" indent="-1714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Caso 2:   </a:t>
            </a:r>
            <a:r>
              <a:rPr lang="en-US" dirty="0" err="1"/>
              <a:t>três</a:t>
            </a:r>
            <a:r>
              <a:rPr lang="en-US" dirty="0"/>
              <a:t> classes contra duas</a:t>
            </a:r>
          </a:p>
          <a:p>
            <a:pPr marL="628650" lvl="1" indent="-171450" defTabSz="914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Caso 3:  </a:t>
            </a:r>
            <a:r>
              <a:rPr lang="en-US" dirty="0" err="1"/>
              <a:t>comparação</a:t>
            </a:r>
            <a:r>
              <a:rPr lang="en-US" dirty="0"/>
              <a:t> entre as </a:t>
            </a:r>
            <a:r>
              <a:rPr lang="en-US" dirty="0" err="1"/>
              <a:t>médias</a:t>
            </a:r>
            <a:r>
              <a:rPr lang="en-US" dirty="0"/>
              <a:t> das </a:t>
            </a:r>
            <a:r>
              <a:rPr lang="en-US" dirty="0" err="1"/>
              <a:t>partidas</a:t>
            </a:r>
            <a:r>
              <a:rPr lang="en-US" dirty="0"/>
              <a:t> </a:t>
            </a:r>
            <a:r>
              <a:rPr lang="en-US" dirty="0" err="1"/>
              <a:t>anteriores</a:t>
            </a:r>
            <a:endParaRPr lang="en-US" dirty="0"/>
          </a:p>
          <a:p>
            <a:pPr marL="171450" lvl="0" indent="-171450" defTabSz="91440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244200"/>
            <a:ext cx="1715190" cy="293105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3295904"/>
            <a:ext cx="1715190" cy="1522293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624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B15B6C-2940-9C36-6AA2-544FFB165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AA5CD61-3934-F8EE-A1AA-FF812145B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DEC11B84-2EEB-6152-CBD3-1489CC231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41" y="151911"/>
            <a:ext cx="5314049" cy="12674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1800" kern="1200" cap="all" spc="100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Caso 1: </a:t>
            </a:r>
            <a:r>
              <a:rPr lang="en-US" sz="1800" kern="1200" cap="all" spc="100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dois</a:t>
            </a:r>
            <a:r>
              <a:rPr lang="en-US" sz="1800" kern="1200" cap="all" spc="100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800" kern="1200" cap="all" spc="100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campeonatos</a:t>
            </a:r>
            <a:r>
              <a:rPr lang="en-US" sz="1800" kern="1200" cap="all" spc="100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 contra um 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6622C560-DC23-6F0A-75CC-B0A9101D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4755" y="629886"/>
            <a:ext cx="3002833" cy="1220685"/>
          </a:xfrm>
        </p:spPr>
        <p:txBody>
          <a:bodyPr vert="horz" lIns="45720" tIns="45720" rIns="45720" bIns="45720" rtlCol="0">
            <a:normAutofit/>
          </a:bodyPr>
          <a:lstStyle/>
          <a:p>
            <a:pPr marL="0" indent="0" defTabSz="914400">
              <a:spcBef>
                <a:spcPts val="1200"/>
              </a:spcBef>
              <a:buNone/>
            </a:pPr>
            <a:endParaRPr lang="en-US" sz="1200" dirty="0"/>
          </a:p>
          <a:p>
            <a:pPr marL="0" indent="0" defTabSz="914400">
              <a:spcBef>
                <a:spcPts val="1200"/>
              </a:spcBef>
              <a:buNone/>
            </a:pPr>
            <a:endParaRPr lang="en-US" sz="1200" dirty="0"/>
          </a:p>
          <a:p>
            <a:pPr marL="171450" lvl="0" indent="-171450" defTabSz="91440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200" dirty="0"/>
              <a:t>2 </a:t>
            </a:r>
            <a:r>
              <a:rPr lang="en-US" sz="1200" dirty="0" err="1"/>
              <a:t>campeonatos</a:t>
            </a:r>
            <a:r>
              <a:rPr lang="en-US" sz="1200" dirty="0"/>
              <a:t> e 3 classes</a:t>
            </a:r>
          </a:p>
        </p:txBody>
      </p:sp>
      <p:sp>
        <p:nvSpPr>
          <p:cNvPr id="7" name="Espaço Reservado para Texto 2">
            <a:extLst>
              <a:ext uri="{FF2B5EF4-FFF2-40B4-BE49-F238E27FC236}">
                <a16:creationId xmlns:a16="http://schemas.microsoft.com/office/drawing/2014/main" id="{1570D08B-998C-96FB-98F2-0CF7B0B6A0D0}"/>
              </a:ext>
            </a:extLst>
          </p:cNvPr>
          <p:cNvSpPr txBox="1">
            <a:spLocks/>
          </p:cNvSpPr>
          <p:nvPr/>
        </p:nvSpPr>
        <p:spPr>
          <a:xfrm>
            <a:off x="5946049" y="932707"/>
            <a:ext cx="2350185" cy="745671"/>
          </a:xfrm>
          <a:prstGeom prst="rect">
            <a:avLst/>
          </a:prstGeom>
        </p:spPr>
        <p:txBody>
          <a:bodyPr spcFirstLastPara="1" vert="horz" wrap="square" lIns="45720" tIns="45720" rIns="45720" bIns="45720" rtlCol="0" anchor="t" anchorCtr="0">
            <a:normAutofit/>
          </a:bodyPr>
          <a:lstStyle>
            <a:lvl1pPr marL="457200" lvl="0" indent="-3111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Tw Cen MT" panose="020B0602020104020603" pitchFamily="34" charset="0"/>
              <a:buChar char="●"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●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●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spcBef>
                <a:spcPts val="1200"/>
              </a:spcBef>
              <a:buFont typeface="Tw Cen MT" panose="020B0602020104020603" pitchFamily="34" charset="0"/>
              <a:buNone/>
            </a:pPr>
            <a:endParaRPr lang="en-US" sz="1200" dirty="0"/>
          </a:p>
          <a:p>
            <a:pPr marL="171450" indent="-1714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100" dirty="0"/>
              <a:t>1 </a:t>
            </a:r>
            <a:r>
              <a:rPr lang="en-US" sz="1100" dirty="0" err="1"/>
              <a:t>campeonato</a:t>
            </a:r>
            <a:r>
              <a:rPr lang="en-US" sz="1100" dirty="0"/>
              <a:t> e 3 classes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12550B2-3536-F792-D9E6-933BB971C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34" y="3292930"/>
            <a:ext cx="3002838" cy="146811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C0507269-A2D5-08FB-3376-ABE4802A0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580" y="1958610"/>
            <a:ext cx="3089565" cy="826153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3EA168E-57BD-9B01-794F-DD436DD703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9582" y="3267313"/>
            <a:ext cx="3089564" cy="1468111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F34FA69-9254-706F-58E1-6162BD8D5E52}"/>
              </a:ext>
            </a:extLst>
          </p:cNvPr>
          <p:cNvSpPr txBox="1"/>
          <p:nvPr/>
        </p:nvSpPr>
        <p:spPr>
          <a:xfrm>
            <a:off x="571500" y="1735154"/>
            <a:ext cx="31767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Tabela 7: Acurácia dos modelos com 2 campeonatos e 3 classes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D711BC9-9863-800E-5514-41385E268E93}"/>
              </a:ext>
            </a:extLst>
          </p:cNvPr>
          <p:cNvSpPr txBox="1"/>
          <p:nvPr/>
        </p:nvSpPr>
        <p:spPr>
          <a:xfrm>
            <a:off x="5659580" y="1735154"/>
            <a:ext cx="31767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Tabela 9: Acurácia dos modelos com 1 campeonato e 3 classes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C7F6C4D-7FA6-50A7-7900-B19992649EE6}"/>
              </a:ext>
            </a:extLst>
          </p:cNvPr>
          <p:cNvSpPr txBox="1"/>
          <p:nvPr/>
        </p:nvSpPr>
        <p:spPr>
          <a:xfrm>
            <a:off x="445247" y="2923598"/>
            <a:ext cx="3429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/>
              <a:t>Tabela 8: Sensibilidade e Especificidade dos modelos com 2 campeonatos e 3 classes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A10478E-395A-6C6F-FB69-D954830DE59F}"/>
              </a:ext>
            </a:extLst>
          </p:cNvPr>
          <p:cNvSpPr txBox="1"/>
          <p:nvPr/>
        </p:nvSpPr>
        <p:spPr>
          <a:xfrm>
            <a:off x="5458926" y="2923598"/>
            <a:ext cx="3578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/>
              <a:t>Tabela 10: Sensibilidade e Especificidade dos modelos com 2 campeonatos e 3 classes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D8127DE-32F5-BA49-50F7-355964E50C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41" y="1966806"/>
            <a:ext cx="3030631" cy="81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6779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D766F2-B70C-3FF7-4B88-091013276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49">
            <a:extLst>
              <a:ext uri="{FF2B5EF4-FFF2-40B4-BE49-F238E27FC236}">
                <a16:creationId xmlns:a16="http://schemas.microsoft.com/office/drawing/2014/main" id="{FD12A5BA-B063-4B33-AB08-86CF7D23F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cxnSp>
        <p:nvCxnSpPr>
          <p:cNvPr id="58" name="Straight Connector 51">
            <a:extLst>
              <a:ext uri="{FF2B5EF4-FFF2-40B4-BE49-F238E27FC236}">
                <a16:creationId xmlns:a16="http://schemas.microsoft.com/office/drawing/2014/main" id="{07DFAF29-6BD8-4A93-A292-D6A8C6EFB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1" y="3948079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3">
            <a:extLst>
              <a:ext uri="{FF2B5EF4-FFF2-40B4-BE49-F238E27FC236}">
                <a16:creationId xmlns:a16="http://schemas.microsoft.com/office/drawing/2014/main" id="{CA01913F-3FBD-4B62-92CF-D2B8A6741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544" cy="51442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3958498-C6D7-6ADD-5F97-CE25BECB7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603" y="480060"/>
            <a:ext cx="2533575" cy="227614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spcBef>
                <a:spcPct val="0"/>
              </a:spcBef>
            </a:pPr>
            <a:r>
              <a:rPr lang="en-US" sz="3300" spc="200"/>
              <a:t>Caso 1: dois campeonatos contra um </a:t>
            </a:r>
            <a:endParaRPr lang="en-US" sz="3300" spc="200" dirty="0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BB0A898-5387-4E99-A785-462A85DC0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523" y="2823985"/>
            <a:ext cx="240030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60A7329E-76EE-5D7D-0DEB-F7130CFAF7BD}"/>
              </a:ext>
            </a:extLst>
          </p:cNvPr>
          <p:cNvSpPr txBox="1"/>
          <p:nvPr/>
        </p:nvSpPr>
        <p:spPr>
          <a:xfrm>
            <a:off x="3795930" y="3306951"/>
            <a:ext cx="44198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Figura 22: Comparação entre as acurácias utilizando um ou dois campeonatos com 3 classes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2E4ABE0-E4B2-293D-89F6-3FA99AF1A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955" y="1030809"/>
            <a:ext cx="4647763" cy="22761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041442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E3A63E-7240-C58B-3B45-4C422C240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2FF95F-3658-361F-9890-8397FF85B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9688BB2D-0A43-055E-3248-642D5967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41" y="151911"/>
            <a:ext cx="5314049" cy="12674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1800" kern="1200" cap="all" spc="100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Caso 2: </a:t>
            </a:r>
            <a:r>
              <a:rPr lang="en-US" sz="1800" spc="100" dirty="0"/>
              <a:t>TRÊS CLASSES</a:t>
            </a:r>
            <a:r>
              <a:rPr lang="en-US" sz="1800" kern="1200" cap="all" spc="100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 contra </a:t>
            </a:r>
            <a:r>
              <a:rPr lang="en-US" sz="1800" spc="100" dirty="0"/>
              <a:t>DUAS</a:t>
            </a:r>
            <a:r>
              <a:rPr lang="en-US" sz="1800" kern="1200" cap="all" spc="100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1470938C-0C6B-25EA-64BC-63AA2E4E8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1064" y="599703"/>
            <a:ext cx="3002833" cy="1220685"/>
          </a:xfrm>
        </p:spPr>
        <p:txBody>
          <a:bodyPr vert="horz" lIns="45720" tIns="45720" rIns="45720" bIns="45720" rtlCol="0">
            <a:normAutofit/>
          </a:bodyPr>
          <a:lstStyle/>
          <a:p>
            <a:pPr marL="0" indent="0" defTabSz="914400">
              <a:spcBef>
                <a:spcPts val="1200"/>
              </a:spcBef>
              <a:buNone/>
            </a:pPr>
            <a:endParaRPr lang="en-US" sz="1200" dirty="0"/>
          </a:p>
          <a:p>
            <a:pPr marL="0" indent="0" defTabSz="914400">
              <a:spcBef>
                <a:spcPts val="1200"/>
              </a:spcBef>
              <a:buNone/>
            </a:pPr>
            <a:endParaRPr lang="en-US" sz="1200" dirty="0"/>
          </a:p>
          <a:p>
            <a:pPr marL="171450" lvl="0" indent="-171450" defTabSz="91440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200" dirty="0"/>
              <a:t>2 </a:t>
            </a:r>
            <a:r>
              <a:rPr lang="en-US" sz="1200" dirty="0" err="1"/>
              <a:t>campeonatos</a:t>
            </a:r>
            <a:r>
              <a:rPr lang="en-US" sz="1200" dirty="0"/>
              <a:t> e 3 classes</a:t>
            </a:r>
          </a:p>
        </p:txBody>
      </p:sp>
      <p:sp>
        <p:nvSpPr>
          <p:cNvPr id="7" name="Espaço Reservado para Texto 2">
            <a:extLst>
              <a:ext uri="{FF2B5EF4-FFF2-40B4-BE49-F238E27FC236}">
                <a16:creationId xmlns:a16="http://schemas.microsoft.com/office/drawing/2014/main" id="{E61D5B94-B992-0DAB-2E77-85BAB114AB4E}"/>
              </a:ext>
            </a:extLst>
          </p:cNvPr>
          <p:cNvSpPr txBox="1">
            <a:spLocks/>
          </p:cNvSpPr>
          <p:nvPr/>
        </p:nvSpPr>
        <p:spPr>
          <a:xfrm>
            <a:off x="5946049" y="932707"/>
            <a:ext cx="2350185" cy="745671"/>
          </a:xfrm>
          <a:prstGeom prst="rect">
            <a:avLst/>
          </a:prstGeom>
        </p:spPr>
        <p:txBody>
          <a:bodyPr spcFirstLastPara="1" vert="horz" wrap="square" lIns="45720" tIns="45720" rIns="45720" bIns="45720" rtlCol="0" anchor="t" anchorCtr="0">
            <a:normAutofit/>
          </a:bodyPr>
          <a:lstStyle>
            <a:lvl1pPr marL="457200" lvl="0" indent="-3111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Tw Cen MT" panose="020B0602020104020603" pitchFamily="34" charset="0"/>
              <a:buChar char="●"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●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●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spcBef>
                <a:spcPts val="1200"/>
              </a:spcBef>
              <a:buFont typeface="Tw Cen MT" panose="020B0602020104020603" pitchFamily="34" charset="0"/>
              <a:buNone/>
            </a:pPr>
            <a:endParaRPr lang="en-US" sz="1200" dirty="0"/>
          </a:p>
          <a:p>
            <a:pPr marL="171450" indent="-1714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100" dirty="0"/>
              <a:t>2 </a:t>
            </a:r>
            <a:r>
              <a:rPr lang="en-US" sz="1100" dirty="0" err="1"/>
              <a:t>campeonatos</a:t>
            </a:r>
            <a:r>
              <a:rPr lang="en-US" sz="1100" dirty="0"/>
              <a:t> e 2 classes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3CE6198-7A79-6AC9-426B-33AA3A7E7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34" y="3323113"/>
            <a:ext cx="3002838" cy="143792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4ADAAE2-7366-8244-92B3-4CE399CDA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922" y="2015628"/>
            <a:ext cx="3002833" cy="82455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CF940B0-FB0D-A276-C0F0-CF551415FA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3915" y="3318413"/>
            <a:ext cx="3002838" cy="453803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1BF921B-E753-44CE-D9D7-339B59BB9C2E}"/>
              </a:ext>
            </a:extLst>
          </p:cNvPr>
          <p:cNvSpPr txBox="1"/>
          <p:nvPr/>
        </p:nvSpPr>
        <p:spPr>
          <a:xfrm>
            <a:off x="571500" y="1795769"/>
            <a:ext cx="31767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Tabela 7: Acurácia dos modelos com 2 campeonatos e 3 classes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E333A6D-54CA-F5DD-C514-807CCD04A05C}"/>
              </a:ext>
            </a:extLst>
          </p:cNvPr>
          <p:cNvSpPr txBox="1"/>
          <p:nvPr/>
        </p:nvSpPr>
        <p:spPr>
          <a:xfrm>
            <a:off x="571500" y="2990977"/>
            <a:ext cx="3429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/>
              <a:t>Tabela 8: Sensibilidade e Especificidade dos modelos com 2 campeonatos e 3 classes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AE0357E-24DC-3113-AE72-75D81EBEEBF2}"/>
              </a:ext>
            </a:extLst>
          </p:cNvPr>
          <p:cNvSpPr txBox="1"/>
          <p:nvPr/>
        </p:nvSpPr>
        <p:spPr>
          <a:xfrm>
            <a:off x="5657661" y="1747388"/>
            <a:ext cx="32353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Tabela 11: Acurácia dos modelos com 2 campeonatos e 2 classes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8B66371-289E-054C-2F22-AA09D7267286}"/>
              </a:ext>
            </a:extLst>
          </p:cNvPr>
          <p:cNvSpPr txBox="1"/>
          <p:nvPr/>
        </p:nvSpPr>
        <p:spPr>
          <a:xfrm>
            <a:off x="5657661" y="2989136"/>
            <a:ext cx="3429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/>
              <a:t>Tabela 12: Sensibilidade e Especificidade dos modelos com 2 campeonatos e 2 classes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A346636D-F129-4234-4261-BD1D2356A1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265" y="2026601"/>
            <a:ext cx="3029975" cy="81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7434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55FA2A-E78B-CA4A-31A3-A223F718A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FD12A5BA-B063-4B33-AB08-86CF7D23F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7DFAF29-6BD8-4A93-A292-D6A8C6EFB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1" y="3948079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CA01913F-3FBD-4B62-92CF-D2B8A6741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544" cy="51442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713562-7208-5AF1-314E-4E8835D15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603" y="480060"/>
            <a:ext cx="2533575" cy="227614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spcBef>
                <a:spcPct val="0"/>
              </a:spcBef>
            </a:pPr>
            <a:r>
              <a:rPr lang="en-US" sz="3300" spc="200" dirty="0"/>
              <a:t>Caso 2: </a:t>
            </a:r>
            <a:r>
              <a:rPr lang="en-US" sz="3300" spc="200"/>
              <a:t>três</a:t>
            </a:r>
            <a:r>
              <a:rPr lang="en-US" sz="3300" spc="200" dirty="0"/>
              <a:t> classes contra duas 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BB0A898-5387-4E99-A785-462A85DC0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523" y="2823985"/>
            <a:ext cx="240030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D8A4B345-DF1D-A02C-BB2D-A6C8D583C68D}"/>
              </a:ext>
            </a:extLst>
          </p:cNvPr>
          <p:cNvSpPr txBox="1"/>
          <p:nvPr/>
        </p:nvSpPr>
        <p:spPr>
          <a:xfrm>
            <a:off x="3907962" y="3022598"/>
            <a:ext cx="46204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Figura 23: Comparação entre as acurácias utilizando dois campeonatos com três ou duas classes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DA339DC-D98B-F591-16F8-7590BB272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710" y="768397"/>
            <a:ext cx="5566228" cy="22761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819181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8D5513-84B8-8060-D353-C4DBA98C5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C4B990D-B76A-FE46-1EDF-7CEC309D8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14360D28-D763-7518-B0E8-42B7E53EF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41" y="151911"/>
            <a:ext cx="5508014" cy="12674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1800" kern="1200" cap="all" spc="100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Caso 3: </a:t>
            </a:r>
            <a:r>
              <a:rPr lang="en-US" sz="1800" kern="1200" cap="all" spc="100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comparação</a:t>
            </a:r>
            <a:r>
              <a:rPr lang="en-US" sz="1800" kern="1200" cap="all" spc="100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 entre as medias das </a:t>
            </a:r>
            <a:r>
              <a:rPr lang="en-US" sz="1800" kern="1200" cap="all" spc="100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partidas</a:t>
            </a:r>
            <a:r>
              <a:rPr lang="en-US" sz="1800" kern="1200" cap="all" spc="100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800" kern="1200" cap="all" spc="100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anteriores</a:t>
            </a:r>
            <a:endParaRPr lang="en-US" sz="1800" kern="1200" cap="all" spc="100" baseline="0" dirty="0">
              <a:solidFill>
                <a:schemeClr val="tx1">
                  <a:lumMod val="90000"/>
                  <a:lumOff val="1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BFF7FDE1-7625-F7C5-62A4-4BE142BBF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809" y="972047"/>
            <a:ext cx="3002833" cy="1220685"/>
          </a:xfrm>
        </p:spPr>
        <p:txBody>
          <a:bodyPr vert="horz" lIns="45720" tIns="45720" rIns="45720" bIns="45720" rtlCol="0">
            <a:normAutofit/>
          </a:bodyPr>
          <a:lstStyle/>
          <a:p>
            <a:pPr marL="0" indent="0" defTabSz="914400">
              <a:spcBef>
                <a:spcPts val="1200"/>
              </a:spcBef>
              <a:buNone/>
            </a:pPr>
            <a:endParaRPr lang="en-US" sz="1200" dirty="0"/>
          </a:p>
          <a:p>
            <a:pPr marL="0" indent="0" defTabSz="914400">
              <a:spcBef>
                <a:spcPts val="1200"/>
              </a:spcBef>
              <a:buNone/>
            </a:pPr>
            <a:endParaRPr lang="en-US" sz="1200" dirty="0"/>
          </a:p>
          <a:p>
            <a:pPr marL="171450" lvl="0" indent="-171450" defTabSz="914400"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200" dirty="0"/>
              <a:t>Em </a:t>
            </a:r>
            <a:r>
              <a:rPr lang="en-US" sz="1200" dirty="0" err="1"/>
              <a:t>relação</a:t>
            </a:r>
            <a:r>
              <a:rPr lang="en-US" sz="1200" dirty="0"/>
              <a:t> </a:t>
            </a:r>
            <a:r>
              <a:rPr lang="en-US" sz="1200" dirty="0" err="1"/>
              <a:t>ao</a:t>
            </a:r>
            <a:r>
              <a:rPr lang="en-US" sz="1200" dirty="0"/>
              <a:t> </a:t>
            </a:r>
            <a:r>
              <a:rPr lang="en-US" sz="1200" dirty="0" err="1"/>
              <a:t>número</a:t>
            </a:r>
            <a:r>
              <a:rPr lang="en-US" sz="1200" dirty="0"/>
              <a:t> de </a:t>
            </a:r>
            <a:r>
              <a:rPr lang="en-US" sz="1200" dirty="0" err="1"/>
              <a:t>campeonatos</a:t>
            </a:r>
            <a:endParaRPr lang="en-US" sz="1200" dirty="0"/>
          </a:p>
        </p:txBody>
      </p:sp>
      <p:sp>
        <p:nvSpPr>
          <p:cNvPr id="7" name="Espaço Reservado para Texto 2">
            <a:extLst>
              <a:ext uri="{FF2B5EF4-FFF2-40B4-BE49-F238E27FC236}">
                <a16:creationId xmlns:a16="http://schemas.microsoft.com/office/drawing/2014/main" id="{F6D29A49-EA9D-CD6E-86BB-F649C2ABFDF3}"/>
              </a:ext>
            </a:extLst>
          </p:cNvPr>
          <p:cNvSpPr txBox="1">
            <a:spLocks/>
          </p:cNvSpPr>
          <p:nvPr/>
        </p:nvSpPr>
        <p:spPr>
          <a:xfrm>
            <a:off x="5703594" y="1342152"/>
            <a:ext cx="2350185" cy="745671"/>
          </a:xfrm>
          <a:prstGeom prst="rect">
            <a:avLst/>
          </a:prstGeom>
        </p:spPr>
        <p:txBody>
          <a:bodyPr spcFirstLastPara="1" vert="horz" wrap="square" lIns="45720" tIns="45720" rIns="45720" bIns="45720" rtlCol="0" anchor="t" anchorCtr="0">
            <a:normAutofit/>
          </a:bodyPr>
          <a:lstStyle>
            <a:lvl1pPr marL="457200" lvl="0" indent="-3111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Tw Cen MT" panose="020B0602020104020603" pitchFamily="34" charset="0"/>
              <a:buChar char="●"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●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●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○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98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Wingdings 3" pitchFamily="18" charset="2"/>
              <a:buChar char="■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spcBef>
                <a:spcPts val="1200"/>
              </a:spcBef>
              <a:buFont typeface="Tw Cen MT" panose="020B0602020104020603" pitchFamily="34" charset="0"/>
              <a:buNone/>
            </a:pPr>
            <a:endParaRPr lang="en-US" sz="1200" dirty="0"/>
          </a:p>
          <a:p>
            <a:pPr marL="171450" indent="-171450" defTabSz="9144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100" dirty="0"/>
              <a:t>Em </a:t>
            </a:r>
            <a:r>
              <a:rPr lang="en-US" sz="1100" dirty="0" err="1"/>
              <a:t>relação</a:t>
            </a:r>
            <a:r>
              <a:rPr lang="en-US" sz="1100" dirty="0"/>
              <a:t> </a:t>
            </a:r>
            <a:r>
              <a:rPr lang="en-US" sz="1100" dirty="0" err="1"/>
              <a:t>ao</a:t>
            </a:r>
            <a:r>
              <a:rPr lang="en-US" sz="1100" dirty="0"/>
              <a:t> </a:t>
            </a:r>
            <a:r>
              <a:rPr lang="en-US" sz="1100" dirty="0" err="1"/>
              <a:t>número</a:t>
            </a:r>
            <a:r>
              <a:rPr lang="en-US" sz="1100" dirty="0"/>
              <a:t> de classes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AB970B-398F-4347-038A-95D4C901D680}"/>
              </a:ext>
            </a:extLst>
          </p:cNvPr>
          <p:cNvSpPr txBox="1"/>
          <p:nvPr/>
        </p:nvSpPr>
        <p:spPr>
          <a:xfrm>
            <a:off x="462887" y="3587830"/>
            <a:ext cx="3750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/>
              <a:t>Figura 24: Comparação entre as médias dos modelos em cada média de partidas anteriores utilizando 2 ou 1 campeonato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2490841-86E4-FE27-9151-1C53DA032702}"/>
              </a:ext>
            </a:extLst>
          </p:cNvPr>
          <p:cNvSpPr txBox="1"/>
          <p:nvPr/>
        </p:nvSpPr>
        <p:spPr>
          <a:xfrm>
            <a:off x="5003620" y="3619333"/>
            <a:ext cx="3750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/>
              <a:t>Figura 25: Comparação entre as médias dos modelos em cada média de partidas anteriores utilizando três ou duas classes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DAAAC97-0490-0D45-AD46-7207FB5D6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28" y="2268308"/>
            <a:ext cx="4170222" cy="13649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E68B79A-16EF-DD1A-9AC7-E6B7DC83C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575" y="2268307"/>
            <a:ext cx="4170221" cy="13459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104043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4F4AF38-8AAD-4B65-9274-0033CABC4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EB621612-E8A4-4001-90B6-9E5C812A2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438912"/>
            <a:ext cx="3323844" cy="11247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3300" kern="1200" cap="all" spc="100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Melhor modelo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A25F77-BDB0-F7F0-3139-9C70C19DC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096" y="1714500"/>
            <a:ext cx="3322211" cy="2948940"/>
          </a:xfrm>
        </p:spPr>
        <p:txBody>
          <a:bodyPr vert="horz" lIns="45720" tIns="45720" rIns="45720" bIns="45720" rtlCol="0">
            <a:normAutofit/>
          </a:bodyPr>
          <a:lstStyle/>
          <a:p>
            <a:pPr defTabSz="9144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/>
              <a:t>Redes Neurais</a:t>
            </a:r>
          </a:p>
          <a:p>
            <a:pPr marL="146050" indent="0" defTabSz="914400">
              <a:spcAft>
                <a:spcPts val="600"/>
              </a:spcAft>
              <a:buNone/>
            </a:pPr>
            <a:endParaRPr lang="en-US"/>
          </a:p>
          <a:p>
            <a:pPr defTabSz="9144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/>
              <a:t>Funções e Hiperparâmetros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E78BF0A-867F-7DB6-9354-629344B9E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51064"/>
            <a:ext cx="4091940" cy="184137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9F3B51C-7FE1-09A5-C552-75BCB76098B1}"/>
              </a:ext>
            </a:extLst>
          </p:cNvPr>
          <p:cNvSpPr txBox="1"/>
          <p:nvPr/>
        </p:nvSpPr>
        <p:spPr>
          <a:xfrm>
            <a:off x="4668768" y="1281732"/>
            <a:ext cx="3903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/>
              <a:t>Tabela 13: funções e </a:t>
            </a:r>
            <a:r>
              <a:rPr lang="pt-BR" sz="900" dirty="0" err="1"/>
              <a:t>hiperparâmetros</a:t>
            </a:r>
            <a:r>
              <a:rPr lang="pt-BR" sz="900" dirty="0"/>
              <a:t> utilizados para a obtenção do melhor modelo de redes neurais</a:t>
            </a:r>
          </a:p>
        </p:txBody>
      </p:sp>
    </p:spTree>
    <p:extLst>
      <p:ext uri="{BB962C8B-B14F-4D97-AF65-F5344CB8AC3E}">
        <p14:creationId xmlns:p14="http://schemas.microsoft.com/office/powerpoint/2010/main" val="5384612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7E38D-E47E-AD07-16DF-6913C061E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1F8254-B1B3-4231-5B9A-8BE3C559E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50" y="688268"/>
            <a:ext cx="7688700" cy="535200"/>
          </a:xfrm>
        </p:spPr>
        <p:txBody>
          <a:bodyPr/>
          <a:lstStyle/>
          <a:p>
            <a:r>
              <a:rPr lang="pt-BR" dirty="0"/>
              <a:t>Comparativo resultado final real contra o previsto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956189C-FA99-3F6B-526D-51BD885A9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453" y="1625600"/>
            <a:ext cx="3145094" cy="3040744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65609C9-41B1-22B6-06A2-21AAF7979C70}"/>
              </a:ext>
            </a:extLst>
          </p:cNvPr>
          <p:cNvSpPr txBox="1"/>
          <p:nvPr/>
        </p:nvSpPr>
        <p:spPr>
          <a:xfrm>
            <a:off x="2676505" y="1256268"/>
            <a:ext cx="3790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/>
              <a:t>Tabela 14: Comparativo entre as colocações finais e as previstas dos times no campeonato inglês de 2017/2018 utilizando 2 campeonatos e 3 classes</a:t>
            </a:r>
          </a:p>
        </p:txBody>
      </p:sp>
    </p:spTree>
    <p:extLst>
      <p:ext uri="{BB962C8B-B14F-4D97-AF65-F5344CB8AC3E}">
        <p14:creationId xmlns:p14="http://schemas.microsoft.com/office/powerpoint/2010/main" val="38223548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CECD22-89B7-807B-B53E-71B3D026E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D7B11A-EBB5-FF4A-822A-2CC938600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8174B947-45B5-C381-2EF2-3A501ABFD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438912"/>
            <a:ext cx="3323844" cy="11247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3300" spc="100"/>
              <a:t>Conclusão</a:t>
            </a:r>
            <a:endParaRPr lang="en-US" sz="3300" kern="1200" cap="all" spc="100" baseline="0" dirty="0">
              <a:solidFill>
                <a:schemeClr val="tx1">
                  <a:lumMod val="90000"/>
                  <a:lumOff val="10000"/>
                </a:schemeClr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6" name="Espaço Reservado para Texto 2">
            <a:extLst>
              <a:ext uri="{FF2B5EF4-FFF2-40B4-BE49-F238E27FC236}">
                <a16:creationId xmlns:a16="http://schemas.microsoft.com/office/drawing/2014/main" id="{699BEFA9-F889-EA6E-09C8-F98392E10A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6180515"/>
              </p:ext>
            </p:extLst>
          </p:nvPr>
        </p:nvGraphicFramePr>
        <p:xfrm>
          <a:off x="768096" y="1714500"/>
          <a:ext cx="6048340" cy="29489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62632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>
            <a:spLocks noGrp="1"/>
          </p:cNvSpPr>
          <p:nvPr>
            <p:ph type="title"/>
          </p:nvPr>
        </p:nvSpPr>
        <p:spPr>
          <a:xfrm>
            <a:off x="727650" y="5816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BIBLIOGRAFIA</a:t>
            </a:r>
            <a:endParaRPr dirty="0"/>
          </a:p>
        </p:txBody>
      </p:sp>
      <p:sp>
        <p:nvSpPr>
          <p:cNvPr id="196" name="Google Shape;196;p27"/>
          <p:cNvSpPr txBox="1">
            <a:spLocks noGrp="1"/>
          </p:cNvSpPr>
          <p:nvPr>
            <p:ph type="body" idx="1"/>
          </p:nvPr>
        </p:nvSpPr>
        <p:spPr>
          <a:xfrm>
            <a:off x="727650" y="1369767"/>
            <a:ext cx="7688700" cy="34680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</a:pPr>
            <a:r>
              <a:rPr lang="pt-BR" sz="1400" dirty="0"/>
              <a:t>ARAUJO, R. et al. Proposta de ferramenta de predição utilizando </a:t>
            </a:r>
            <a:r>
              <a:rPr lang="pt-BR" sz="1400" dirty="0" err="1"/>
              <a:t>machine</a:t>
            </a:r>
            <a:r>
              <a:rPr lang="pt-BR" sz="1400" dirty="0"/>
              <a:t> </a:t>
            </a:r>
            <a:r>
              <a:rPr lang="pt-BR" sz="1400" dirty="0" err="1"/>
              <a:t>learning</a:t>
            </a:r>
            <a:r>
              <a:rPr lang="pt-BR" sz="1400" dirty="0"/>
              <a:t>. Universidade Federal do Rio Grande, 2018.</a:t>
            </a: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</a:pPr>
            <a:r>
              <a:rPr lang="en-US" sz="1400" dirty="0"/>
              <a:t>BABOOTA, R.; KAUR, H. Predictive analysis and modelling football results using machine learning approach for </a:t>
            </a:r>
            <a:r>
              <a:rPr lang="en-US" sz="1400" dirty="0" err="1"/>
              <a:t>english</a:t>
            </a:r>
            <a:r>
              <a:rPr lang="en-US" sz="1400" dirty="0"/>
              <a:t> premier league. International Journal of Forecasting, 2018.</a:t>
            </a:r>
            <a:endParaRPr lang="pt-BR" sz="1400" dirty="0"/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</a:pPr>
            <a:r>
              <a:rPr lang="en-US" sz="1400" dirty="0"/>
              <a:t>HASTIE, T.; TIBSHIRANI, R.; FRIEDMAN, J. The elements of statistical learning. Springer, 2008. </a:t>
            </a: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</a:pPr>
            <a:r>
              <a:rPr lang="pt-BR" sz="1400" dirty="0"/>
              <a:t>HUCALJUK, J.; RAKIPOVIC, A. </a:t>
            </a:r>
            <a:r>
              <a:rPr lang="pt-BR" sz="1400" dirty="0" err="1"/>
              <a:t>Predicting</a:t>
            </a:r>
            <a:r>
              <a:rPr lang="pt-BR" sz="1400" dirty="0"/>
              <a:t> football scores </a:t>
            </a:r>
            <a:r>
              <a:rPr lang="pt-BR" sz="1400" dirty="0" err="1"/>
              <a:t>using</a:t>
            </a:r>
            <a:r>
              <a:rPr lang="pt-BR" sz="1400" dirty="0"/>
              <a:t> </a:t>
            </a:r>
            <a:r>
              <a:rPr lang="pt-BR" sz="1400" dirty="0" err="1"/>
              <a:t>machine</a:t>
            </a:r>
            <a:r>
              <a:rPr lang="pt-BR" sz="1400" dirty="0"/>
              <a:t> </a:t>
            </a:r>
            <a:r>
              <a:rPr lang="pt-BR" sz="1400" dirty="0" err="1"/>
              <a:t>learning</a:t>
            </a:r>
            <a:r>
              <a:rPr lang="pt-BR" sz="1400" dirty="0"/>
              <a:t> </a:t>
            </a:r>
            <a:r>
              <a:rPr lang="pt-BR" sz="1400" dirty="0" err="1"/>
              <a:t>techniques</a:t>
            </a:r>
            <a:r>
              <a:rPr lang="pt-BR" sz="1400" dirty="0"/>
              <a:t>. 2011. </a:t>
            </a: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</a:pPr>
            <a:r>
              <a:rPr lang="en-US" sz="1400" dirty="0"/>
              <a:t>JOSEPH, A.; FENTON, N.; NEIL, M. Predicting football results using </a:t>
            </a:r>
            <a:r>
              <a:rPr lang="en-US" sz="1400" dirty="0" err="1"/>
              <a:t>bayesian</a:t>
            </a:r>
            <a:r>
              <a:rPr lang="en-US" sz="1400" dirty="0"/>
              <a:t> nets and other machine learning techniques. Knowledge Based Systems, 2006.</a:t>
            </a: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</a:pPr>
            <a:r>
              <a:rPr lang="pt-BR" sz="1400" dirty="0"/>
              <a:t>MENOTTI, D. Múltiplos classificadores. Universidade Federal do Paraná, 2017.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1600</TotalTime>
  <Words>1308</Words>
  <Application>Microsoft Office PowerPoint</Application>
  <PresentationFormat>Apresentação na tela (16:9)</PresentationFormat>
  <Paragraphs>275</Paragraphs>
  <Slides>34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41" baseType="lpstr">
      <vt:lpstr>Wingdings</vt:lpstr>
      <vt:lpstr>Tw Cen MT Condensed</vt:lpstr>
      <vt:lpstr>Arial</vt:lpstr>
      <vt:lpstr>Tw Cen MT</vt:lpstr>
      <vt:lpstr>Wingdings 3</vt:lpstr>
      <vt:lpstr>Lato</vt:lpstr>
      <vt:lpstr>Integral</vt:lpstr>
      <vt:lpstr>Apresentação do PowerPoint</vt:lpstr>
      <vt:lpstr>INTRODUÇÃO</vt:lpstr>
      <vt:lpstr>Objetivos</vt:lpstr>
      <vt:lpstr>MATERIAL E MÉTODOS</vt:lpstr>
      <vt:lpstr>MATERIAL E MÉTODOS</vt:lpstr>
      <vt:lpstr>MATERIAL E MÉTODOS</vt:lpstr>
      <vt:lpstr>MATERIAL E MÉTODOS</vt:lpstr>
      <vt:lpstr>MATERIAL E MÉTODOS</vt:lpstr>
      <vt:lpstr>Material e métodos</vt:lpstr>
      <vt:lpstr>Material e métodos</vt:lpstr>
      <vt:lpstr>MATERIAL E MÉTODOS </vt:lpstr>
      <vt:lpstr>MATERIAL E MÉTODOS </vt:lpstr>
      <vt:lpstr>MATERIAL E MÉTODOS </vt:lpstr>
      <vt:lpstr>MATERIAL E MÉTODOS </vt:lpstr>
      <vt:lpstr>MATERIAL E MÉTODOS </vt:lpstr>
      <vt:lpstr>MATERIAL E MÉTODOS </vt:lpstr>
      <vt:lpstr>Análise dos resultados</vt:lpstr>
      <vt:lpstr>ANÁLISE DOS RESULTADOS</vt:lpstr>
      <vt:lpstr>ANÁLISE DOS RESULTADOS</vt:lpstr>
      <vt:lpstr>ANÁLISE DOS RESULTADOS</vt:lpstr>
      <vt:lpstr>ANÁLISE DOS RESULTADOS</vt:lpstr>
      <vt:lpstr>ANÁLISE DOS RESULTADOS</vt:lpstr>
      <vt:lpstr>Seleção das variáveis</vt:lpstr>
      <vt:lpstr>Seleção das variáveis</vt:lpstr>
      <vt:lpstr>Resultados dos modelos</vt:lpstr>
      <vt:lpstr>Caso 1: dois campeonatos contra um </vt:lpstr>
      <vt:lpstr>Caso 1: dois campeonatos contra um </vt:lpstr>
      <vt:lpstr>Caso 2: TRÊS CLASSES contra DUAS </vt:lpstr>
      <vt:lpstr>Caso 2: três classes contra duas </vt:lpstr>
      <vt:lpstr>Caso 3: comparação entre as medias das partidas anteriores</vt:lpstr>
      <vt:lpstr>Melhor modelo</vt:lpstr>
      <vt:lpstr>Comparativo resultado final real contra o previsto</vt:lpstr>
      <vt:lpstr>Conclusão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michel albuquerque</cp:lastModifiedBy>
  <cp:revision>26</cp:revision>
  <dcterms:modified xsi:type="dcterms:W3CDTF">2025-01-14T00:42:15Z</dcterms:modified>
</cp:coreProperties>
</file>